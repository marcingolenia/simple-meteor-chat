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gif" ContentType="image/gif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648" r:id="rId4"/>
  </p:sldMasterIdLst>
  <p:notesMasterIdLst>
    <p:notesMasterId r:id="rId31"/>
  </p:notesMasterIdLst>
  <p:handoutMasterIdLst>
    <p:handoutMasterId r:id="rId32"/>
  </p:handoutMasterIdLst>
  <p:sldIdLst>
    <p:sldId id="256" r:id="rId5"/>
    <p:sldId id="258" r:id="rId6"/>
    <p:sldId id="259" r:id="rId7"/>
    <p:sldId id="260" r:id="rId8"/>
    <p:sldId id="263" r:id="rId9"/>
    <p:sldId id="262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9144000" cy="6858000" type="screen4x3"/>
  <p:notesSz cx="6858000" cy="9144000"/>
  <p:embeddedFontLst>
    <p:embeddedFont>
      <p:font typeface="Gill Sans MT Condensed" panose="020B0506020104020203" pitchFamily="34" charset="-18"/>
      <p:regular r:id="rId33"/>
    </p:embeddedFont>
    <p:embeddedFont>
      <p:font typeface="Trebuchet MS" panose="020B0603020202020204" pitchFamily="34" charset="0"/>
      <p:regular r:id="rId34"/>
      <p:bold r:id="rId35"/>
      <p:italic r:id="rId36"/>
      <p:boldItalic r:id="rId37"/>
    </p:embeddedFont>
    <p:embeddedFont>
      <p:font typeface="Calibri" panose="020F0502020204030204" pitchFamily="34" charset="0"/>
      <p:regular r:id="rId38"/>
      <p:bold r:id="rId39"/>
      <p:italic r:id="rId40"/>
      <p:boldItalic r:id="rId41"/>
    </p:embeddedFont>
    <p:embeddedFont>
      <p:font typeface="Consolas" panose="020B0609020204030204" pitchFamily="49" charset="0"/>
      <p:regular r:id="rId42"/>
      <p:bold r:id="rId43"/>
      <p:italic r:id="rId44"/>
      <p:boldItalic r:id="rId4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cin Golenia" initials="MG" lastIdx="1" clrIdx="0">
    <p:extLst>
      <p:ext uri="{19B8F6BF-5375-455C-9EA6-DF929625EA0E}">
        <p15:presenceInfo xmlns:p15="http://schemas.microsoft.com/office/powerpoint/2012/main" userId="S-1-5-21-3624227412-2955519344-4135408192-13133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5C5C"/>
    <a:srgbClr val="086A9E"/>
    <a:srgbClr val="DA251D"/>
    <a:srgbClr val="E8E3DA"/>
    <a:srgbClr val="DBDBDB"/>
    <a:srgbClr val="7CBF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16" autoAdjust="0"/>
    <p:restoredTop sz="79258" autoAdjust="0"/>
  </p:normalViewPr>
  <p:slideViewPr>
    <p:cSldViewPr>
      <p:cViewPr varScale="1">
        <p:scale>
          <a:sx n="92" d="100"/>
          <a:sy n="92" d="100"/>
        </p:scale>
        <p:origin x="2232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9" d="100"/>
          <a:sy n="89" d="100"/>
        </p:scale>
        <p:origin x="-1878" y="-10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font" Target="fonts/font7.fntdata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font" Target="fonts/font2.fntdata"/><Relationship Id="rId42" Type="http://schemas.openxmlformats.org/officeDocument/2006/relationships/font" Target="fonts/font10.fntdata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font" Target="fonts/font1.fntdata"/><Relationship Id="rId38" Type="http://schemas.openxmlformats.org/officeDocument/2006/relationships/font" Target="fonts/font6.fntdata"/><Relationship Id="rId46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font" Target="fonts/font9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handoutMaster" Target="handoutMasters/handoutMaster1.xml"/><Relationship Id="rId37" Type="http://schemas.openxmlformats.org/officeDocument/2006/relationships/font" Target="fonts/font5.fntdata"/><Relationship Id="rId40" Type="http://schemas.openxmlformats.org/officeDocument/2006/relationships/font" Target="fonts/font8.fntdata"/><Relationship Id="rId45" Type="http://schemas.openxmlformats.org/officeDocument/2006/relationships/font" Target="fonts/font13.fntdata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font" Target="fonts/font4.fntdata"/><Relationship Id="rId49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notesMaster" Target="notesMasters/notesMaster1.xml"/><Relationship Id="rId44" Type="http://schemas.openxmlformats.org/officeDocument/2006/relationships/font" Target="fonts/font12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font" Target="fonts/font3.fntdata"/><Relationship Id="rId43" Type="http://schemas.openxmlformats.org/officeDocument/2006/relationships/font" Target="fonts/font11.fntdata"/><Relationship Id="rId48" Type="http://schemas.openxmlformats.org/officeDocument/2006/relationships/viewProps" Target="viewProps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6534FB-57AD-4648-A132-F48641CADD17}" type="datetimeFigureOut">
              <a:rPr lang="en-US" smtClean="0"/>
              <a:pPr/>
              <a:t>7/8/2015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C40F8A-A979-4FD5-9C5E-70D8AE59360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09015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51A232-D6D1-45FF-A4BE-E043083276F0}" type="datetimeFigureOut">
              <a:rPr lang="en-US" smtClean="0"/>
              <a:pPr/>
              <a:t>7/8/2015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2A56F3-4DE2-4BC2-9B8C-92D77D48C78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5367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en.wikipedia.org/wiki/MongoDB" TargetMode="External"/><Relationship Id="rId3" Type="http://schemas.openxmlformats.org/officeDocument/2006/relationships/hyperlink" Target="https://en.wikipedia.org/wiki/Open-source" TargetMode="External"/><Relationship Id="rId7" Type="http://schemas.openxmlformats.org/officeDocument/2006/relationships/hyperlink" Target="https://en.wikipedia.org/wiki/Node.js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en.wikipedia.org/wiki/Meteor_(web_framework)#cite_note-gigaom-2" TargetMode="External"/><Relationship Id="rId11" Type="http://schemas.openxmlformats.org/officeDocument/2006/relationships/hyperlink" Target="https://en.wikipedia.org/wiki/JQuery" TargetMode="External"/><Relationship Id="rId5" Type="http://schemas.openxmlformats.org/officeDocument/2006/relationships/hyperlink" Target="https://en.wikipedia.org/wiki/Web_application_framework" TargetMode="External"/><Relationship Id="rId10" Type="http://schemas.openxmlformats.org/officeDocument/2006/relationships/hyperlink" Target="https://en.wikipedia.org/wiki/Publish%E2%80%93subscribe_pattern" TargetMode="External"/><Relationship Id="rId4" Type="http://schemas.openxmlformats.org/officeDocument/2006/relationships/hyperlink" Target="https://en.wikipedia.org/wiki/JavaScript" TargetMode="External"/><Relationship Id="rId9" Type="http://schemas.openxmlformats.org/officeDocument/2006/relationships/hyperlink" Target="https://en.wikipedia.org/wiki/Distributed_Data_Protocol" TargetMode="Externa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en.wikipedia.org/wiki/MongoDB" TargetMode="External"/><Relationship Id="rId3" Type="http://schemas.openxmlformats.org/officeDocument/2006/relationships/hyperlink" Target="https://en.wikipedia.org/wiki/Open-source" TargetMode="External"/><Relationship Id="rId7" Type="http://schemas.openxmlformats.org/officeDocument/2006/relationships/hyperlink" Target="https://en.wikipedia.org/wiki/Node.js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en.wikipedia.org/wiki/Meteor_(web_framework)#cite_note-gigaom-2" TargetMode="External"/><Relationship Id="rId11" Type="http://schemas.openxmlformats.org/officeDocument/2006/relationships/hyperlink" Target="https://en.wikipedia.org/wiki/JQuery" TargetMode="External"/><Relationship Id="rId5" Type="http://schemas.openxmlformats.org/officeDocument/2006/relationships/hyperlink" Target="https://en.wikipedia.org/wiki/Web_application_framework" TargetMode="External"/><Relationship Id="rId10" Type="http://schemas.openxmlformats.org/officeDocument/2006/relationships/hyperlink" Target="https://en.wikipedia.org/wiki/Publish%E2%80%93subscribe_pattern" TargetMode="External"/><Relationship Id="rId4" Type="http://schemas.openxmlformats.org/officeDocument/2006/relationships/hyperlink" Target="https://en.wikipedia.org/wiki/JavaScript" TargetMode="External"/><Relationship Id="rId9" Type="http://schemas.openxmlformats.org/officeDocument/2006/relationships/hyperlink" Target="https://en.wikipedia.org/wiki/Distributed_Data_Protocol" TargetMode="Externa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Meteor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or </a:t>
            </a:r>
            <a:r>
              <a:rPr lang="en-US" sz="12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MeteorJS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is an </a:t>
            </a:r>
            <a:r>
              <a:rPr lang="en-US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 tooltip="Open-source"/>
              </a:rPr>
              <a:t>open-source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real-time </a:t>
            </a:r>
            <a:r>
              <a:rPr lang="en-US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 tooltip="JavaScript"/>
              </a:rPr>
              <a:t>JavaScript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5" tooltip="Web application framework"/>
              </a:rPr>
              <a:t>web application framework</a:t>
            </a:r>
            <a:r>
              <a:rPr lang="en-US" sz="1200" b="0" i="0" u="none" strike="noStrike" kern="1200" baseline="300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6"/>
              </a:rPr>
              <a:t>[2]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written using </a:t>
            </a:r>
            <a:r>
              <a:rPr lang="en-US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7" tooltip="Node.js"/>
              </a:rPr>
              <a:t>Node.js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Meteor allows for rapid prototyping and produces cross-platform (web, Android, iOS) code. It integrates with </a:t>
            </a:r>
            <a:r>
              <a:rPr lang="en-US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8" tooltip="MongoDB"/>
              </a:rPr>
              <a:t>MongoDB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and uses the </a:t>
            </a:r>
            <a:r>
              <a:rPr lang="en-US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9" tooltip="Distributed Data Protocol"/>
              </a:rPr>
              <a:t>Distributed Data Protocol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and a </a:t>
            </a:r>
            <a:r>
              <a:rPr lang="en-US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10" tooltip="Publish–subscribe pattern"/>
              </a:rPr>
              <a:t>publish–subscribe pattern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to automatically propagate data changes to clients in real-time without requiring the developer to write any synchronization code. On the client, Meteor depends on </a:t>
            </a:r>
            <a:r>
              <a:rPr lang="en-US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11" tooltip="JQuery"/>
              </a:rPr>
              <a:t>jQuery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and can be used with any JavaScript UI widget library.</a:t>
            </a:r>
            <a:endParaRPr lang="pl-PL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2A56F3-4DE2-4BC2-9B8C-92D77D48C786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0797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query selects all documents where the 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type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field has the value 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'food'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the value of 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price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field is less than 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9.95</a:t>
            </a:r>
            <a:endParaRPr lang="pl-PL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pl-PL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l-PL" dirty="0" smtClean="0"/>
              <a:t>% </a:t>
            </a:r>
            <a:r>
              <a:rPr lang="pl-PL" dirty="0" err="1" smtClean="0"/>
              <a:t>node</a:t>
            </a:r>
            <a:r>
              <a:rPr lang="pl-PL" dirty="0" smtClean="0"/>
              <a:t> example.js Server </a:t>
            </a:r>
            <a:r>
              <a:rPr lang="pl-PL" dirty="0" err="1" smtClean="0"/>
              <a:t>running</a:t>
            </a:r>
            <a:r>
              <a:rPr lang="pl-PL" dirty="0" smtClean="0"/>
              <a:t> </a:t>
            </a:r>
            <a:r>
              <a:rPr lang="pl-PL" dirty="0" err="1" smtClean="0"/>
              <a:t>at</a:t>
            </a:r>
            <a:r>
              <a:rPr lang="pl-PL" dirty="0" smtClean="0"/>
              <a:t> http://127.0.0.1:1337/</a:t>
            </a:r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2A56F3-4DE2-4BC2-9B8C-92D77D48C786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8702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2A56F3-4DE2-4BC2-9B8C-92D77D48C786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9877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Meteor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or </a:t>
            </a:r>
            <a:r>
              <a:rPr lang="en-US" sz="12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MeteorJS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is an </a:t>
            </a:r>
            <a:r>
              <a:rPr lang="en-US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 tooltip="Open-source"/>
              </a:rPr>
              <a:t>open-source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real-time </a:t>
            </a:r>
            <a:r>
              <a:rPr lang="en-US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 tooltip="JavaScript"/>
              </a:rPr>
              <a:t>JavaScript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5" tooltip="Web application framework"/>
              </a:rPr>
              <a:t>web application framework</a:t>
            </a:r>
            <a:r>
              <a:rPr lang="en-US" sz="1200" b="0" i="0" u="none" strike="noStrike" kern="1200" baseline="300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6"/>
              </a:rPr>
              <a:t>[2]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written using </a:t>
            </a:r>
            <a:r>
              <a:rPr lang="en-US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7" tooltip="Node.js"/>
              </a:rPr>
              <a:t>Node.js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Meteor allows for rapid prototyping and produces cross-platform (web, Android, iOS) code. It integrates with </a:t>
            </a:r>
            <a:r>
              <a:rPr lang="en-US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8" tooltip="MongoDB"/>
              </a:rPr>
              <a:t>MongoDB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and uses the </a:t>
            </a:r>
            <a:r>
              <a:rPr lang="en-US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9" tooltip="Distributed Data Protocol"/>
              </a:rPr>
              <a:t>Distributed Data Protocol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and a </a:t>
            </a:r>
            <a:r>
              <a:rPr lang="en-US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10" tooltip="Publish–subscribe pattern"/>
              </a:rPr>
              <a:t>publish–subscribe pattern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to automatically propagate data changes to clients in real-time without requiring the developer to write any synchronization code. On the client, Meteor depends on </a:t>
            </a:r>
            <a:r>
              <a:rPr lang="en-US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11" tooltip="JQuery"/>
              </a:rPr>
              <a:t>jQuery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and can be used with any JavaScript UI widget library.</a:t>
            </a:r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2A56F3-4DE2-4BC2-9B8C-92D77D48C786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5705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2A56F3-4DE2-4BC2-9B8C-92D77D48C786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7184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 err="1" smtClean="0"/>
              <a:t>Electron</a:t>
            </a:r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2A56F3-4DE2-4BC2-9B8C-92D77D48C786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108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 err="1" smtClean="0"/>
              <a:t>Electron</a:t>
            </a:r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2A56F3-4DE2-4BC2-9B8C-92D77D48C786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2486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 err="1" smtClean="0"/>
              <a:t>Css</a:t>
            </a:r>
            <a:r>
              <a:rPr lang="pl-PL" baseline="0" dirty="0" smtClean="0"/>
              <a:t> </a:t>
            </a:r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2A56F3-4DE2-4BC2-9B8C-92D77D48C786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3891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 err="1" smtClean="0"/>
              <a:t>Electron</a:t>
            </a:r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2A56F3-4DE2-4BC2-9B8C-92D77D48C786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017447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 Blaze, you can write your app with normal-looking templates in the language of your choice. You don't need to declare dependencies or write any code to manage how the screen updates: it's all automatic.</a:t>
            </a:r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2A56F3-4DE2-4BC2-9B8C-92D77D48C786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230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 err="1" smtClean="0"/>
              <a:t>Electron</a:t>
            </a:r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2A56F3-4DE2-4BC2-9B8C-92D77D48C786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1621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 smtClean="0"/>
              <a:t>DOM – </a:t>
            </a:r>
            <a:r>
              <a:rPr lang="pl-PL" dirty="0" err="1" smtClean="0"/>
              <a:t>documen</a:t>
            </a:r>
            <a:r>
              <a:rPr lang="pl-PL" baseline="0" dirty="0" err="1" smtClean="0"/>
              <a:t>t</a:t>
            </a:r>
            <a:r>
              <a:rPr lang="pl-PL" baseline="0" dirty="0" smtClean="0"/>
              <a:t> </a:t>
            </a:r>
            <a:r>
              <a:rPr lang="pl-PL" baseline="0" dirty="0" err="1" smtClean="0"/>
              <a:t>object</a:t>
            </a:r>
            <a:r>
              <a:rPr lang="pl-PL" baseline="0" dirty="0" smtClean="0"/>
              <a:t> model.</a:t>
            </a:r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2A56F3-4DE2-4BC2-9B8C-92D77D48C786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1786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 smtClean="0"/>
              <a:t>DOM – </a:t>
            </a:r>
            <a:r>
              <a:rPr lang="pl-PL" dirty="0" err="1" smtClean="0"/>
              <a:t>documen</a:t>
            </a:r>
            <a:r>
              <a:rPr lang="pl-PL" baseline="0" dirty="0" err="1" smtClean="0"/>
              <a:t>t</a:t>
            </a:r>
            <a:r>
              <a:rPr lang="pl-PL" baseline="0" dirty="0" smtClean="0"/>
              <a:t> </a:t>
            </a:r>
            <a:r>
              <a:rPr lang="pl-PL" baseline="0" dirty="0" err="1" smtClean="0"/>
              <a:t>object</a:t>
            </a:r>
            <a:r>
              <a:rPr lang="pl-PL" baseline="0" dirty="0" smtClean="0"/>
              <a:t> model.</a:t>
            </a:r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2A56F3-4DE2-4BC2-9B8C-92D77D48C786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398775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 smtClean="0"/>
              <a:t>DOM – </a:t>
            </a:r>
            <a:r>
              <a:rPr lang="pl-PL" dirty="0" err="1" smtClean="0"/>
              <a:t>documen</a:t>
            </a:r>
            <a:r>
              <a:rPr lang="pl-PL" baseline="0" dirty="0" err="1" smtClean="0"/>
              <a:t>t</a:t>
            </a:r>
            <a:r>
              <a:rPr lang="pl-PL" baseline="0" dirty="0" smtClean="0"/>
              <a:t> </a:t>
            </a:r>
            <a:r>
              <a:rPr lang="pl-PL" baseline="0" dirty="0" err="1" smtClean="0"/>
              <a:t>object</a:t>
            </a:r>
            <a:r>
              <a:rPr lang="pl-PL" baseline="0" dirty="0" smtClean="0"/>
              <a:t> model.</a:t>
            </a:r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2A56F3-4DE2-4BC2-9B8C-92D77D48C786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67305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2A56F3-4DE2-4BC2-9B8C-92D77D48C786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61310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2A56F3-4DE2-4BC2-9B8C-92D77D48C786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70428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Template.body</a:t>
            </a:r>
            <a:r>
              <a:rPr lang="pl-PL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jest tylko dlatego,</a:t>
            </a:r>
            <a:r>
              <a:rPr lang="pl-PL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bo chcemy obsłużyć </a:t>
            </a:r>
            <a:r>
              <a:rPr lang="pl-PL" sz="1200" b="0" i="0" kern="1200" baseline="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event</a:t>
            </a:r>
            <a:r>
              <a:rPr lang="pl-PL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elementu który nie jest w żadnym szablonie.</a:t>
            </a:r>
          </a:p>
          <a:p>
            <a:endParaRPr lang="pl-PL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l-PL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meteor</a:t>
            </a:r>
            <a:r>
              <a:rPr lang="pl-PL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pl-PL" sz="1200" b="0" i="0" kern="1200" baseline="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deploy</a:t>
            </a:r>
            <a:r>
              <a:rPr lang="pl-PL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name.meteor.com</a:t>
            </a:r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2A56F3-4DE2-4BC2-9B8C-92D77D48C786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54017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2A56F3-4DE2-4BC2-9B8C-92D77D48C786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366899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2A56F3-4DE2-4BC2-9B8C-92D77D48C786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783495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2A56F3-4DE2-4BC2-9B8C-92D77D48C786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3053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2A56F3-4DE2-4BC2-9B8C-92D77D48C786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7664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2A56F3-4DE2-4BC2-9B8C-92D77D48C786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38685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2A56F3-4DE2-4BC2-9B8C-92D77D48C786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77272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2A56F3-4DE2-4BC2-9B8C-92D77D48C786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28906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2A56F3-4DE2-4BC2-9B8C-92D77D48C786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09637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2A56F3-4DE2-4BC2-9B8C-92D77D48C786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1014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295400"/>
            <a:ext cx="7772400" cy="1470025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8194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2833F-C3EF-41FC-8986-AC11D7C32BD2}" type="datetime1">
              <a:rPr lang="en-US" smtClean="0"/>
              <a:pPr/>
              <a:t>7/8/2015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Rounded Rectangle 9"/>
          <p:cNvSpPr/>
          <p:nvPr userDrawn="1"/>
        </p:nvSpPr>
        <p:spPr>
          <a:xfrm>
            <a:off x="-533400" y="-609600"/>
            <a:ext cx="9067800" cy="5791200"/>
          </a:xfrm>
          <a:prstGeom prst="roundRect">
            <a:avLst>
              <a:gd name="adj" fmla="val 4291"/>
            </a:avLst>
          </a:prstGeom>
          <a:noFill/>
          <a:ln w="53975">
            <a:solidFill>
              <a:srgbClr val="DA251D"/>
            </a:solidFill>
          </a:ln>
          <a:effectLst>
            <a:glow rad="635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 userDrawn="1"/>
        </p:nvSpPr>
        <p:spPr>
          <a:xfrm>
            <a:off x="6934200" y="4495800"/>
            <a:ext cx="2743200" cy="2819400"/>
          </a:xfrm>
          <a:prstGeom prst="roundRect">
            <a:avLst>
              <a:gd name="adj" fmla="val 11203"/>
            </a:avLst>
          </a:prstGeom>
          <a:noFill/>
          <a:ln w="53975">
            <a:solidFill>
              <a:srgbClr val="086A9E"/>
            </a:solidFill>
          </a:ln>
          <a:effectLst>
            <a:glow rad="635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 spd="med">
    <p:fade thruBlk="1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14C53-CF0F-4D69-9313-5D50BF64ED36}" type="datetime1">
              <a:rPr lang="en-US" smtClean="0"/>
              <a:pPr/>
              <a:t>7/8/2015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B10B1-CFAE-4B3D-B1DA-4BA7CB88E0D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A09BE-94C4-401C-A3F9-317B79E2CECA}" type="datetime1">
              <a:rPr lang="en-US" smtClean="0"/>
              <a:pPr/>
              <a:t>7/8/2015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B10B1-CFAE-4B3D-B1DA-4BA7CB88E0D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400" y="1295400"/>
            <a:ext cx="4343400" cy="5105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95400"/>
            <a:ext cx="4343400" cy="5105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E83ED-4540-4D8F-87E4-CB928EA06980}" type="datetime1">
              <a:rPr lang="en-US" smtClean="0"/>
              <a:pPr/>
              <a:t>7/8/2015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B10B1-CFAE-4B3D-B1DA-4BA7CB88E0D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CACC4-4D96-4F5A-ACC6-6842B7218BF9}" type="datetime1">
              <a:rPr lang="en-US" smtClean="0"/>
              <a:pPr/>
              <a:t>7/8/2015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B10B1-CFAE-4B3D-B1DA-4BA7CB88E0D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DF225-C0A5-4B91-9112-D8F1AB9DA244}" type="datetime1">
              <a:rPr lang="en-US" smtClean="0"/>
              <a:pPr/>
              <a:t>7/8/2015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B10B1-CFAE-4B3D-B1DA-4BA7CB88E0D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C1C3D-6D23-4AF7-9B90-9E76B3F01320}" type="datetime1">
              <a:rPr lang="en-US" smtClean="0"/>
              <a:pPr/>
              <a:t>7/8/2015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B10B1-CFAE-4B3D-B1DA-4BA7CB88E0D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E987F-05D6-464A-8811-70920BF9A3AC}" type="datetime1">
              <a:rPr lang="en-US" smtClean="0"/>
              <a:pPr/>
              <a:t>7/8/2015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B10B1-CFAE-4B3D-B1DA-4BA7CB88E0D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6CA44-1B05-4340-A363-208A90C1613A}" type="datetime1">
              <a:rPr lang="en-US" smtClean="0"/>
              <a:pPr/>
              <a:t>7/8/2015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B10B1-CFAE-4B3D-B1DA-4BA7CB88E0D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C55E9-25B9-486F-A372-C423B0614A66}" type="datetime1">
              <a:rPr lang="en-US" smtClean="0"/>
              <a:pPr/>
              <a:t>7/8/2015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B10B1-CFAE-4B3D-B1DA-4BA7CB88E0D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6AFED-A4D3-4E88-ACD6-081D3967F705}" type="datetime1">
              <a:rPr lang="en-US" smtClean="0"/>
              <a:pPr/>
              <a:t>7/8/2015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B10B1-CFAE-4B3D-B1DA-4BA7CB88E0D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3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400" y="0"/>
            <a:ext cx="8839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400" y="1295400"/>
            <a:ext cx="8839200" cy="5105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48400" y="632460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9D9E9A-2D95-4F1D-9E06-1989E44E3203}" type="datetime1">
              <a:rPr lang="en-US" smtClean="0"/>
              <a:pPr/>
              <a:t>7/8/2015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2400" y="6400800"/>
            <a:ext cx="762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086A9E"/>
                </a:solidFill>
              </a:defRPr>
            </a:lvl1pPr>
          </a:lstStyle>
          <a:p>
            <a:fld id="{460B10B1-CFAE-4B3D-B1DA-4BA7CB88E0D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7391400" y="6477000"/>
            <a:ext cx="1662111" cy="27452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fade/>
  </p:transition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b="1" kern="1200">
          <a:solidFill>
            <a:schemeClr val="bg1">
              <a:lumMod val="50000"/>
            </a:schemeClr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  <a:latin typeface="Gill Sans MT Condensed" pitchFamily="34" charset="-18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rgbClr val="FD2121"/>
        </a:buClr>
        <a:buFont typeface="Wingdings" pitchFamily="2" charset="2"/>
        <a:buChar char="§"/>
        <a:defRPr sz="3200" b="1" kern="1200">
          <a:solidFill>
            <a:schemeClr val="tx1"/>
          </a:solidFill>
          <a:effectLst/>
          <a:latin typeface="Trebuchet MS" pitchFamily="34" charset="0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rgbClr val="086A9E"/>
        </a:buClr>
        <a:buFont typeface="Wingdings" pitchFamily="2" charset="2"/>
        <a:buChar char="§"/>
        <a:defRPr sz="2800" kern="1200">
          <a:solidFill>
            <a:schemeClr val="tx1">
              <a:lumMod val="95000"/>
              <a:lumOff val="5000"/>
            </a:schemeClr>
          </a:solidFill>
          <a:latin typeface="Trebuchet MS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rgbClr val="086A9E"/>
        </a:buClr>
        <a:buFont typeface="Wingdings" pitchFamily="2" charset="2"/>
        <a:buChar char="§"/>
        <a:defRPr sz="2400" kern="1200">
          <a:solidFill>
            <a:schemeClr val="tx1">
              <a:lumMod val="95000"/>
              <a:lumOff val="5000"/>
            </a:schemeClr>
          </a:solidFill>
          <a:latin typeface="Trebuchet MS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rgbClr val="086A9E"/>
        </a:buClr>
        <a:buFont typeface="Wingdings" pitchFamily="2" charset="2"/>
        <a:buChar char="§"/>
        <a:defRPr sz="2000" kern="1200">
          <a:solidFill>
            <a:schemeClr val="tx1">
              <a:lumMod val="95000"/>
              <a:lumOff val="5000"/>
            </a:schemeClr>
          </a:solidFill>
          <a:latin typeface="Trebuchet MS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rgbClr val="086A9E"/>
        </a:buClr>
        <a:buFont typeface="Wingdings" pitchFamily="2" charset="2"/>
        <a:buChar char="§"/>
        <a:defRPr sz="2000" kern="1200">
          <a:solidFill>
            <a:schemeClr val="tx1">
              <a:lumMod val="95000"/>
              <a:lumOff val="5000"/>
            </a:schemeClr>
          </a:solidFill>
          <a:latin typeface="Trebuchet MS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nodejs.org/download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atom.io/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0" y="1295400"/>
            <a:ext cx="4572000" cy="2057400"/>
          </a:xfrm>
        </p:spPr>
        <p:txBody>
          <a:bodyPr>
            <a:normAutofit/>
          </a:bodyPr>
          <a:lstStyle/>
          <a:p>
            <a:r>
              <a:rPr lang="pl-PL" dirty="0" smtClean="0">
                <a:solidFill>
                  <a:schemeClr val="tx1"/>
                </a:solidFill>
              </a:rPr>
              <a:t/>
            </a:r>
            <a:br>
              <a:rPr lang="pl-PL" dirty="0" smtClean="0">
                <a:solidFill>
                  <a:schemeClr val="tx1"/>
                </a:solidFill>
              </a:rPr>
            </a:br>
            <a:r>
              <a:rPr lang="pl-PL" sz="2800" b="0" dirty="0" smtClean="0">
                <a:solidFill>
                  <a:schemeClr val="tx1"/>
                </a:solidFill>
              </a:rPr>
              <a:t>Real-</a:t>
            </a:r>
            <a:r>
              <a:rPr lang="pl-PL" sz="2800" b="0" dirty="0" err="1" smtClean="0">
                <a:solidFill>
                  <a:schemeClr val="tx1"/>
                </a:solidFill>
              </a:rPr>
              <a:t>time</a:t>
            </a:r>
            <a:r>
              <a:rPr lang="pl-PL" sz="2800" b="0" dirty="0" smtClean="0">
                <a:solidFill>
                  <a:schemeClr val="tx1"/>
                </a:solidFill>
              </a:rPr>
              <a:t> web </a:t>
            </a:r>
            <a:r>
              <a:rPr lang="pl-PL" sz="2800" b="0" dirty="0" err="1" smtClean="0">
                <a:solidFill>
                  <a:schemeClr val="tx1"/>
                </a:solidFill>
              </a:rPr>
              <a:t>applications</a:t>
            </a:r>
            <a:endParaRPr lang="en-US" sz="2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429000"/>
            <a:ext cx="6400800" cy="1143000"/>
          </a:xfrm>
        </p:spPr>
        <p:txBody>
          <a:bodyPr/>
          <a:lstStyle/>
          <a:p>
            <a:r>
              <a:rPr lang="pl-PL" sz="2000" dirty="0" smtClean="0"/>
              <a:t>Marcin Golenia</a:t>
            </a:r>
          </a:p>
          <a:p>
            <a:r>
              <a:rPr lang="pl-PL" sz="2000" dirty="0" smtClean="0"/>
              <a:t>ma.golenia@lgbs.pl</a:t>
            </a:r>
            <a:endParaRPr lang="pl-PL" dirty="0" smtClean="0"/>
          </a:p>
        </p:txBody>
      </p:sp>
      <p:pic>
        <p:nvPicPr>
          <p:cNvPr id="1026" name="Picture 2" descr="Gold_Partner_logo_large_transparent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4800" y="5867400"/>
            <a:ext cx="3954463" cy="771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7832" y="1401860"/>
            <a:ext cx="4148336" cy="911354"/>
          </a:xfrm>
          <a:prstGeom prst="rect">
            <a:avLst/>
          </a:prstGeom>
        </p:spPr>
      </p:pic>
    </p:spTree>
  </p:cSld>
  <p:clrMapOvr>
    <a:masterClrMapping/>
  </p:clrMapOvr>
  <p:transition spd="med">
    <p:fade thruBlk="1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smtClean="0"/>
              <a:t>Co tam jest po stronie Serwera?</a:t>
            </a:r>
            <a:endParaRPr lang="pl-PL" dirty="0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152400" y="1020814"/>
            <a:ext cx="8839200" cy="5105400"/>
          </a:xfrm>
        </p:spPr>
        <p:txBody>
          <a:bodyPr>
            <a:normAutofit/>
          </a:bodyPr>
          <a:lstStyle/>
          <a:p>
            <a:r>
              <a:rPr lang="pl-PL" dirty="0" smtClean="0"/>
              <a:t>Server</a:t>
            </a:r>
          </a:p>
          <a:p>
            <a:endParaRPr lang="pl-PL" dirty="0"/>
          </a:p>
          <a:p>
            <a:endParaRPr lang="pl-PL" dirty="0" smtClean="0"/>
          </a:p>
          <a:p>
            <a:endParaRPr lang="pl-PL" dirty="0"/>
          </a:p>
          <a:p>
            <a:pPr marL="0" indent="0">
              <a:buNone/>
            </a:pPr>
            <a:endParaRPr lang="pl-PL" dirty="0" smtClean="0"/>
          </a:p>
          <a:p>
            <a:pPr lvl="1"/>
            <a:endParaRPr lang="pl-PL" dirty="0" smtClean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B10B1-CFAE-4B3D-B1DA-4BA7CB88E0D3}" type="slidenum">
              <a:rPr lang="en-US" smtClean="0"/>
              <a:pPr/>
              <a:t>2</a:t>
            </a:fld>
            <a:endParaRPr lang="en-US"/>
          </a:p>
        </p:txBody>
      </p:sp>
      <p:pic>
        <p:nvPicPr>
          <p:cNvPr id="1026" name="Picture 2" descr="http://calebmadrigal.com/images/nodejs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822745"/>
            <a:ext cx="3761014" cy="18805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ttps://serverdensity-wpengine.netdna-ssl.com/wp-content/themes/blog.new/images/random/mongodb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4380105"/>
            <a:ext cx="2203257" cy="22032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2852017" y="5322955"/>
            <a:ext cx="56795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 err="1"/>
              <a:t>db.inventory.find</a:t>
            </a:r>
            <a:r>
              <a:rPr lang="pl-PL" dirty="0"/>
              <a:t>( { </a:t>
            </a:r>
            <a:r>
              <a:rPr lang="pl-PL" dirty="0" err="1"/>
              <a:t>type</a:t>
            </a:r>
            <a:r>
              <a:rPr lang="pl-PL" dirty="0"/>
              <a:t>: 'food', </a:t>
            </a:r>
            <a:r>
              <a:rPr lang="pl-PL" dirty="0" err="1"/>
              <a:t>price</a:t>
            </a:r>
            <a:r>
              <a:rPr lang="pl-PL" dirty="0"/>
              <a:t>: { $</a:t>
            </a:r>
            <a:r>
              <a:rPr lang="pl-PL" dirty="0" err="1"/>
              <a:t>lt</a:t>
            </a:r>
            <a:r>
              <a:rPr lang="pl-PL" dirty="0"/>
              <a:t>: 9.95 } } 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0393" y="2366700"/>
            <a:ext cx="567950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 err="1"/>
              <a:t>var</a:t>
            </a:r>
            <a:r>
              <a:rPr lang="pl-PL" dirty="0"/>
              <a:t> http = </a:t>
            </a:r>
            <a:r>
              <a:rPr lang="pl-PL" dirty="0" err="1"/>
              <a:t>require</a:t>
            </a:r>
            <a:r>
              <a:rPr lang="pl-PL" dirty="0"/>
              <a:t>('http');</a:t>
            </a:r>
          </a:p>
          <a:p>
            <a:r>
              <a:rPr lang="pl-PL" dirty="0" err="1"/>
              <a:t>http.createServer</a:t>
            </a:r>
            <a:r>
              <a:rPr lang="pl-PL" dirty="0"/>
              <a:t>(</a:t>
            </a:r>
            <a:r>
              <a:rPr lang="pl-PL" dirty="0" err="1"/>
              <a:t>function</a:t>
            </a:r>
            <a:r>
              <a:rPr lang="pl-PL" dirty="0"/>
              <a:t> (</a:t>
            </a:r>
            <a:r>
              <a:rPr lang="pl-PL" dirty="0" err="1"/>
              <a:t>req</a:t>
            </a:r>
            <a:r>
              <a:rPr lang="pl-PL" dirty="0"/>
              <a:t>, res) {</a:t>
            </a:r>
          </a:p>
          <a:p>
            <a:r>
              <a:rPr lang="pl-PL" dirty="0"/>
              <a:t>  </a:t>
            </a:r>
            <a:r>
              <a:rPr lang="pl-PL" dirty="0" err="1"/>
              <a:t>res.writeHead</a:t>
            </a:r>
            <a:r>
              <a:rPr lang="pl-PL" dirty="0"/>
              <a:t>(200, {'Content-</a:t>
            </a:r>
            <a:r>
              <a:rPr lang="pl-PL" dirty="0" err="1"/>
              <a:t>Type</a:t>
            </a:r>
            <a:r>
              <a:rPr lang="pl-PL" dirty="0"/>
              <a:t>': '</a:t>
            </a:r>
            <a:r>
              <a:rPr lang="pl-PL" dirty="0" err="1"/>
              <a:t>text</a:t>
            </a:r>
            <a:r>
              <a:rPr lang="pl-PL" dirty="0"/>
              <a:t>/</a:t>
            </a:r>
            <a:r>
              <a:rPr lang="pl-PL" dirty="0" err="1"/>
              <a:t>plain</a:t>
            </a:r>
            <a:r>
              <a:rPr lang="pl-PL" dirty="0"/>
              <a:t>'});</a:t>
            </a:r>
          </a:p>
          <a:p>
            <a:r>
              <a:rPr lang="pl-PL" dirty="0"/>
              <a:t>  </a:t>
            </a:r>
            <a:r>
              <a:rPr lang="pl-PL" dirty="0" err="1"/>
              <a:t>res.end</a:t>
            </a:r>
            <a:r>
              <a:rPr lang="pl-PL" dirty="0"/>
              <a:t>('Hello World\n');</a:t>
            </a:r>
          </a:p>
          <a:p>
            <a:r>
              <a:rPr lang="pl-PL" dirty="0"/>
              <a:t>}).</a:t>
            </a:r>
            <a:r>
              <a:rPr lang="pl-PL" dirty="0" err="1"/>
              <a:t>listen</a:t>
            </a:r>
            <a:r>
              <a:rPr lang="pl-PL" dirty="0"/>
              <a:t>(1337, '127.0.0.1');</a:t>
            </a:r>
          </a:p>
          <a:p>
            <a:r>
              <a:rPr lang="pl-PL" dirty="0"/>
              <a:t>console.log('Server </a:t>
            </a:r>
            <a:r>
              <a:rPr lang="pl-PL" dirty="0" err="1"/>
              <a:t>running</a:t>
            </a:r>
            <a:r>
              <a:rPr lang="pl-PL" dirty="0"/>
              <a:t> </a:t>
            </a:r>
            <a:r>
              <a:rPr lang="pl-PL" dirty="0" err="1"/>
              <a:t>at</a:t>
            </a:r>
            <a:r>
              <a:rPr lang="pl-PL" dirty="0"/>
              <a:t> http://127.0.0.1:1337/');)</a:t>
            </a:r>
          </a:p>
        </p:txBody>
      </p:sp>
    </p:spTree>
    <p:extLst>
      <p:ext uri="{BB962C8B-B14F-4D97-AF65-F5344CB8AC3E}">
        <p14:creationId xmlns:p14="http://schemas.microsoft.com/office/powerpoint/2010/main" val="112101968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smtClean="0"/>
              <a:t>Co tam jest po stronie klienta?</a:t>
            </a:r>
            <a:endParaRPr lang="pl-PL" dirty="0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l-PL" dirty="0" smtClean="0"/>
              <a:t>Klient</a:t>
            </a:r>
            <a:br>
              <a:rPr lang="pl-PL" dirty="0" smtClean="0"/>
            </a:br>
            <a:endParaRPr lang="pl-PL" dirty="0" smtClean="0"/>
          </a:p>
          <a:p>
            <a:pPr lvl="8"/>
            <a:r>
              <a:rPr lang="pl-PL" dirty="0" smtClean="0"/>
              <a:t> 	</a:t>
            </a:r>
            <a:r>
              <a:rPr lang="pl-PL" dirty="0"/>
              <a:t> </a:t>
            </a:r>
            <a:r>
              <a:rPr lang="pl-PL" dirty="0" smtClean="0"/>
              <a:t>    </a:t>
            </a:r>
            <a:r>
              <a:rPr lang="pl-PL" sz="8000" dirty="0" smtClean="0"/>
              <a:t>    +</a:t>
            </a:r>
            <a:endParaRPr lang="pl-PL" sz="8000" dirty="0"/>
          </a:p>
          <a:p>
            <a:pPr marL="0" indent="0">
              <a:buNone/>
            </a:pPr>
            <a:endParaRPr lang="pl-PL" dirty="0"/>
          </a:p>
          <a:p>
            <a:pPr marL="0" indent="0">
              <a:buNone/>
            </a:pPr>
            <a:endParaRPr lang="pl-PL" dirty="0" smtClean="0"/>
          </a:p>
          <a:p>
            <a:pPr marL="0" indent="0">
              <a:buNone/>
            </a:pPr>
            <a:r>
              <a:rPr lang="pl-PL" dirty="0"/>
              <a:t>	</a:t>
            </a:r>
            <a:r>
              <a:rPr lang="pl-PL" dirty="0" smtClean="0"/>
              <a:t>	</a:t>
            </a:r>
          </a:p>
          <a:p>
            <a:pPr marL="0" indent="0">
              <a:buNone/>
            </a:pPr>
            <a:r>
              <a:rPr lang="pl-PL" dirty="0"/>
              <a:t>	</a:t>
            </a:r>
            <a:r>
              <a:rPr lang="pl-PL" dirty="0" smtClean="0"/>
              <a:t>				I dużo bibliotek </a:t>
            </a:r>
            <a:r>
              <a:rPr lang="pl-PL" dirty="0" smtClean="0">
                <a:sym typeface="Wingdings" panose="05000000000000000000" pitchFamily="2" charset="2"/>
              </a:rPr>
              <a:t> …</a:t>
            </a:r>
            <a:endParaRPr lang="pl-PL" dirty="0" smtClean="0"/>
          </a:p>
          <a:p>
            <a:pPr lvl="1"/>
            <a:endParaRPr lang="pl-PL" dirty="0" smtClean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B10B1-CFAE-4B3D-B1DA-4BA7CB88E0D3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5" name="Picture 6" descr="http://www.geeks.gallery/wp-content/uploads/2015/01/jQurery.gi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5600" y="2138378"/>
            <a:ext cx="1946729" cy="19467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329" y="1915100"/>
            <a:ext cx="5259614" cy="2393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919869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smtClean="0"/>
              <a:t>Integracja klient-serwer</a:t>
            </a:r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B10B1-CFAE-4B3D-B1DA-4BA7CB88E0D3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286000"/>
            <a:ext cx="7467600" cy="1954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983985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smtClean="0"/>
              <a:t>Zaczynajmy</a:t>
            </a:r>
            <a:endParaRPr lang="pl-PL" dirty="0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pl-PL" b="0" dirty="0" smtClean="0"/>
              <a:t>Dalsza część wykładu to tak naprawdę samodzielna instrukcja (dziś dodatkowo macie mnie). Możecie do niej wrócić kiedy tylko chcecie, nauczyć tego czego nauczyliśmy się dzisiaj kogo chcecie. Dzielmy się wiedzą </a:t>
            </a:r>
            <a:r>
              <a:rPr lang="pl-PL" b="0" dirty="0" smtClean="0">
                <a:sym typeface="Wingdings" panose="05000000000000000000" pitchFamily="2" charset="2"/>
              </a:rPr>
              <a:t></a:t>
            </a:r>
            <a:r>
              <a:rPr lang="pl-PL" b="0" dirty="0" smtClean="0"/>
              <a:t> </a:t>
            </a:r>
          </a:p>
          <a:p>
            <a:r>
              <a:rPr lang="pl-PL" dirty="0" smtClean="0"/>
              <a:t>Zakładam że node.js zainstalowany.</a:t>
            </a:r>
          </a:p>
          <a:p>
            <a:pPr lvl="1"/>
            <a:r>
              <a:rPr lang="pl-PL" dirty="0" smtClean="0"/>
              <a:t>Jeśli nie to zapraszam </a:t>
            </a:r>
            <a:r>
              <a:rPr lang="pl-PL" dirty="0"/>
              <a:t>na </a:t>
            </a:r>
            <a:r>
              <a:rPr lang="pl-PL" dirty="0">
                <a:hlinkClick r:id="rId3"/>
              </a:rPr>
              <a:t>https://nodejs.org/download</a:t>
            </a:r>
            <a:r>
              <a:rPr lang="pl-PL" dirty="0" smtClean="0">
                <a:hlinkClick r:id="rId3"/>
              </a:rPr>
              <a:t>/</a:t>
            </a:r>
            <a:endParaRPr lang="pl-PL" dirty="0" smtClean="0"/>
          </a:p>
          <a:p>
            <a:r>
              <a:rPr lang="pl-PL" dirty="0"/>
              <a:t>https://www.meteor.com/install</a:t>
            </a:r>
            <a:endParaRPr lang="pl-PL" dirty="0" smtClean="0"/>
          </a:p>
          <a:p>
            <a:r>
              <a:rPr lang="pl-PL" dirty="0" smtClean="0">
                <a:hlinkClick r:id="rId4"/>
              </a:rPr>
              <a:t>https</a:t>
            </a:r>
            <a:r>
              <a:rPr lang="pl-PL" dirty="0">
                <a:hlinkClick r:id="rId4"/>
              </a:rPr>
              <a:t>://atom.io</a:t>
            </a:r>
            <a:r>
              <a:rPr lang="pl-PL" dirty="0" smtClean="0">
                <a:hlinkClick r:id="rId4"/>
              </a:rPr>
              <a:t>/</a:t>
            </a:r>
            <a:r>
              <a:rPr lang="pl-PL" dirty="0" smtClean="0"/>
              <a:t> bo Visual Studio już jest nudny </a:t>
            </a:r>
            <a:r>
              <a:rPr lang="pl-PL" dirty="0" smtClean="0">
                <a:sym typeface="Wingdings" panose="05000000000000000000" pitchFamily="2" charset="2"/>
              </a:rPr>
              <a:t></a:t>
            </a:r>
            <a:endParaRPr lang="pl-PL" dirty="0" smtClean="0"/>
          </a:p>
          <a:p>
            <a:endParaRPr lang="pl-PL" dirty="0" smtClean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B10B1-CFAE-4B3D-B1DA-4BA7CB88E0D3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1893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smtClean="0"/>
              <a:t>Szybka konfiguracja </a:t>
            </a:r>
            <a:r>
              <a:rPr lang="pl-PL" dirty="0" err="1"/>
              <a:t>A</a:t>
            </a:r>
            <a:r>
              <a:rPr lang="pl-PL" dirty="0" err="1" smtClean="0"/>
              <a:t>toma</a:t>
            </a:r>
            <a:endParaRPr lang="pl-PL" dirty="0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152400" y="1113971"/>
            <a:ext cx="8839200" cy="5105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l-PL" sz="2200" b="0" dirty="0" smtClean="0"/>
              <a:t>Otwórzmy </a:t>
            </a:r>
            <a:r>
              <a:rPr lang="pl-PL" sz="2200" b="0" dirty="0" err="1" smtClean="0"/>
              <a:t>Atoma</a:t>
            </a:r>
            <a:r>
              <a:rPr lang="pl-PL" sz="2200" b="0" dirty="0" smtClean="0"/>
              <a:t> przejdźmy do </a:t>
            </a:r>
            <a:r>
              <a:rPr lang="pl-PL" sz="2200" b="0" dirty="0" err="1" smtClean="0"/>
              <a:t>Packages</a:t>
            </a:r>
            <a:r>
              <a:rPr lang="pl-PL" sz="2200" b="0" dirty="0" smtClean="0"/>
              <a:t> -&gt; </a:t>
            </a:r>
            <a:r>
              <a:rPr lang="pl-PL" sz="2200" b="0" dirty="0" err="1" smtClean="0"/>
              <a:t>Settings</a:t>
            </a:r>
            <a:r>
              <a:rPr lang="pl-PL" sz="2200" b="0" dirty="0" smtClean="0"/>
              <a:t> </a:t>
            </a:r>
            <a:r>
              <a:rPr lang="pl-PL" sz="2200" b="0" dirty="0" err="1" smtClean="0"/>
              <a:t>View</a:t>
            </a:r>
            <a:r>
              <a:rPr lang="pl-PL" sz="2200" b="0" dirty="0" smtClean="0"/>
              <a:t> -&gt; </a:t>
            </a:r>
            <a:br>
              <a:rPr lang="pl-PL" sz="2200" b="0" dirty="0" smtClean="0"/>
            </a:br>
            <a:r>
              <a:rPr lang="pl-PL" sz="2200" b="0" dirty="0" err="1" smtClean="0"/>
              <a:t>Manage</a:t>
            </a:r>
            <a:r>
              <a:rPr lang="pl-PL" sz="2200" b="0" dirty="0" smtClean="0"/>
              <a:t> </a:t>
            </a:r>
            <a:r>
              <a:rPr lang="pl-PL" sz="2200" b="0" dirty="0" err="1" smtClean="0"/>
              <a:t>Packages</a:t>
            </a:r>
            <a:r>
              <a:rPr lang="pl-PL" sz="2200" b="0" dirty="0" smtClean="0"/>
              <a:t> -&gt; Wybieramy w oknie „</a:t>
            </a:r>
            <a:r>
              <a:rPr lang="pl-PL" sz="2200" b="0" dirty="0" err="1" smtClean="0"/>
              <a:t>Install</a:t>
            </a:r>
            <a:r>
              <a:rPr lang="pl-PL" sz="2200" b="0" dirty="0" smtClean="0"/>
              <a:t> </a:t>
            </a:r>
            <a:r>
              <a:rPr lang="pl-PL" sz="2200" b="0" dirty="0" err="1" smtClean="0"/>
              <a:t>packages</a:t>
            </a:r>
            <a:r>
              <a:rPr lang="pl-PL" sz="2200" b="0" dirty="0" smtClean="0"/>
              <a:t>”,</a:t>
            </a:r>
            <a:br>
              <a:rPr lang="pl-PL" sz="2200" b="0" dirty="0" smtClean="0"/>
            </a:br>
            <a:r>
              <a:rPr lang="pl-PL" sz="2200" b="0" dirty="0" smtClean="0"/>
              <a:t>wpisujemy meteor </a:t>
            </a:r>
            <a:br>
              <a:rPr lang="pl-PL" sz="2200" b="0" dirty="0" smtClean="0"/>
            </a:br>
            <a:r>
              <a:rPr lang="pl-PL" sz="2200" b="0" dirty="0" smtClean="0"/>
              <a:t>i instalujemy</a:t>
            </a:r>
            <a:br>
              <a:rPr lang="pl-PL" sz="2200" b="0" dirty="0" smtClean="0"/>
            </a:br>
            <a:r>
              <a:rPr lang="pl-PL" sz="2200" b="0" dirty="0" smtClean="0"/>
              <a:t>wszystkie 3 paczki.</a:t>
            </a:r>
            <a:br>
              <a:rPr lang="pl-PL" sz="2200" b="0" dirty="0" smtClean="0"/>
            </a:br>
            <a:r>
              <a:rPr lang="pl-PL" sz="2200" b="0" dirty="0" smtClean="0"/>
              <a:t/>
            </a:r>
            <a:br>
              <a:rPr lang="pl-PL" sz="2200" b="0" dirty="0" smtClean="0"/>
            </a:br>
            <a:r>
              <a:rPr lang="pl-PL" sz="2200" b="0" dirty="0" smtClean="0"/>
              <a:t>Tak naprawdę,</a:t>
            </a:r>
            <a:br>
              <a:rPr lang="pl-PL" sz="2200" b="0" dirty="0" smtClean="0"/>
            </a:br>
            <a:r>
              <a:rPr lang="pl-PL" sz="2200" b="0" dirty="0" smtClean="0"/>
              <a:t>wystarczy tylko </a:t>
            </a:r>
            <a:br>
              <a:rPr lang="pl-PL" sz="2200" b="0" dirty="0" smtClean="0"/>
            </a:br>
            <a:r>
              <a:rPr lang="pl-PL" sz="2200" b="0" dirty="0" smtClean="0"/>
              <a:t>meteor </a:t>
            </a:r>
            <a:r>
              <a:rPr lang="pl-PL" sz="2200" b="0" dirty="0" err="1" smtClean="0"/>
              <a:t>api</a:t>
            </a:r>
            <a:r>
              <a:rPr lang="pl-PL" sz="2200" b="0" dirty="0" smtClean="0"/>
              <a:t>, jednak</a:t>
            </a:r>
            <a:br>
              <a:rPr lang="pl-PL" sz="2200" b="0" dirty="0" smtClean="0"/>
            </a:br>
            <a:r>
              <a:rPr lang="pl-PL" sz="2200" b="0" dirty="0" smtClean="0"/>
              <a:t>2 pozostałe</a:t>
            </a:r>
            <a:br>
              <a:rPr lang="pl-PL" sz="2200" b="0" dirty="0" smtClean="0"/>
            </a:br>
            <a:r>
              <a:rPr lang="pl-PL" sz="2200" b="0" dirty="0" smtClean="0"/>
              <a:t>troszkę uprzyjemnią</a:t>
            </a:r>
            <a:r>
              <a:rPr lang="pl-PL" sz="2200" b="0" dirty="0"/>
              <a:t/>
            </a:r>
            <a:br>
              <a:rPr lang="pl-PL" sz="2200" b="0" dirty="0"/>
            </a:br>
            <a:r>
              <a:rPr lang="pl-PL" sz="2200" b="0" dirty="0" smtClean="0"/>
              <a:t>nam pracę.</a:t>
            </a:r>
          </a:p>
          <a:p>
            <a:pPr marL="0" indent="0">
              <a:buNone/>
            </a:pPr>
            <a:endParaRPr lang="pl-PL" dirty="0" smtClean="0"/>
          </a:p>
          <a:p>
            <a:endParaRPr lang="pl-PL" dirty="0" smtClean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B10B1-CFAE-4B3D-B1DA-4BA7CB88E0D3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5200" y="2209800"/>
            <a:ext cx="5305425" cy="3790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29118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smtClean="0"/>
              <a:t>Pierwszy krok – tworzymy projekt</a:t>
            </a:r>
            <a:endParaRPr lang="pl-PL" dirty="0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152400" y="990600"/>
            <a:ext cx="8839200" cy="5410200"/>
          </a:xfrm>
        </p:spPr>
        <p:txBody>
          <a:bodyPr>
            <a:normAutofit/>
          </a:bodyPr>
          <a:lstStyle/>
          <a:p>
            <a:r>
              <a:rPr lang="pl-PL" sz="2800" dirty="0" smtClean="0"/>
              <a:t>Komenda: meteor </a:t>
            </a:r>
            <a:r>
              <a:rPr lang="pl-PL" sz="2800" dirty="0" err="1" smtClean="0"/>
              <a:t>create</a:t>
            </a:r>
            <a:r>
              <a:rPr lang="pl-PL" sz="2800" dirty="0" smtClean="0"/>
              <a:t> „nazwa projektu”</a:t>
            </a:r>
          </a:p>
          <a:p>
            <a:endParaRPr lang="pl-PL" sz="2800" dirty="0"/>
          </a:p>
          <a:p>
            <a:endParaRPr lang="pl-PL" sz="2800" dirty="0" smtClean="0"/>
          </a:p>
          <a:p>
            <a:endParaRPr lang="pl-PL" sz="2800" dirty="0"/>
          </a:p>
          <a:p>
            <a:r>
              <a:rPr lang="pl-PL" sz="2800" dirty="0" smtClean="0"/>
              <a:t>Edycja w Atomie; </a:t>
            </a:r>
          </a:p>
          <a:p>
            <a:pPr lvl="1"/>
            <a:r>
              <a:rPr lang="pl-PL" sz="2400" dirty="0" smtClean="0"/>
              <a:t>File -&gt; Open Folder -&gt; Wybieramy nasz folder z projektem.</a:t>
            </a:r>
          </a:p>
          <a:p>
            <a:pPr lvl="1"/>
            <a:r>
              <a:rPr lang="pl-PL" sz="2400" dirty="0" smtClean="0"/>
              <a:t>Otwórzmy (w naszym przypadku) chat.js. Klikamy w dolny róg ekranu                   upewniamy się że mamy wybrany </a:t>
            </a:r>
            <a:r>
              <a:rPr lang="pl-PL" sz="2400" dirty="0" err="1" smtClean="0"/>
              <a:t>JavaScript</a:t>
            </a:r>
            <a:r>
              <a:rPr lang="pl-PL" sz="2400" dirty="0" smtClean="0"/>
              <a:t>(Meteor) 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B10B1-CFAE-4B3D-B1DA-4BA7CB88E0D3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1600200"/>
            <a:ext cx="6800850" cy="14478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4800600"/>
            <a:ext cx="14859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592994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smtClean="0"/>
              <a:t>Pierwszy krok – tworzymy projekt</a:t>
            </a:r>
            <a:endParaRPr lang="pl-PL" dirty="0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152400" y="914400"/>
            <a:ext cx="8839200" cy="5486400"/>
          </a:xfrm>
        </p:spPr>
        <p:txBody>
          <a:bodyPr>
            <a:normAutofit/>
          </a:bodyPr>
          <a:lstStyle/>
          <a:p>
            <a:r>
              <a:rPr lang="pl-PL" dirty="0" smtClean="0"/>
              <a:t>Uruchamiamy projekt poprzez wpisanie „meteor” będąc w ścieżce naszego projektu. </a:t>
            </a:r>
          </a:p>
          <a:p>
            <a:r>
              <a:rPr lang="pl-PL" dirty="0" smtClean="0"/>
              <a:t>Otwórzmy przeglądarkę i wpiszmy </a:t>
            </a:r>
            <a:r>
              <a:rPr lang="pl-PL" dirty="0" err="1" smtClean="0"/>
              <a:t>url</a:t>
            </a:r>
            <a:r>
              <a:rPr lang="pl-PL" dirty="0" smtClean="0"/>
              <a:t> zwrócony w konsoli. Widzimy przykładową prostą aplikacje – zostaw ją włączoną.</a:t>
            </a:r>
          </a:p>
          <a:p>
            <a:r>
              <a:rPr lang="pl-PL" dirty="0" smtClean="0"/>
              <a:t>W pliku chat.css dodaj styl: </a:t>
            </a:r>
          </a:p>
          <a:p>
            <a:r>
              <a:rPr lang="pl-PL" dirty="0" smtClean="0"/>
              <a:t>Przejdź do przeglądarki z uruchomioną aplikację, co zaobserwował(eś/</a:t>
            </a:r>
            <a:r>
              <a:rPr lang="pl-PL" dirty="0" err="1" smtClean="0"/>
              <a:t>aś</a:t>
            </a:r>
            <a:r>
              <a:rPr lang="pl-PL" dirty="0" smtClean="0"/>
              <a:t>)? 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B10B1-CFAE-4B3D-B1DA-4BA7CB88E0D3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7400" y="4114800"/>
            <a:ext cx="1733550" cy="619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784226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 smtClean="0"/>
              <a:t>Javascript</a:t>
            </a:r>
            <a:r>
              <a:rPr lang="pl-PL" dirty="0" smtClean="0"/>
              <a:t> w meteor – krótki wstęp.</a:t>
            </a:r>
            <a:endParaRPr lang="pl-PL" dirty="0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4876800" y="914400"/>
            <a:ext cx="4114800" cy="5486400"/>
          </a:xfrm>
        </p:spPr>
        <p:txBody>
          <a:bodyPr>
            <a:normAutofit fontScale="62500" lnSpcReduction="20000"/>
          </a:bodyPr>
          <a:lstStyle/>
          <a:p>
            <a:r>
              <a:rPr lang="pl-PL" dirty="0" err="1" smtClean="0"/>
              <a:t>Meteor.isClient</a:t>
            </a:r>
            <a:r>
              <a:rPr lang="pl-PL" dirty="0" smtClean="0"/>
              <a:t> -&gt; to miejsce gdzie będziemy pisać cały kod odpowiedzialny za klienta.</a:t>
            </a:r>
          </a:p>
          <a:p>
            <a:r>
              <a:rPr lang="pl-PL" dirty="0" err="1" smtClean="0"/>
              <a:t>Meteor.isServer</a:t>
            </a:r>
            <a:r>
              <a:rPr lang="pl-PL" dirty="0" smtClean="0"/>
              <a:t> -&gt; analogicznie tylko że dla serwera.</a:t>
            </a:r>
          </a:p>
          <a:p>
            <a:r>
              <a:rPr lang="pl-PL" dirty="0" smtClean="0"/>
              <a:t>Meteor często łączy kod z front-endu i </a:t>
            </a:r>
            <a:r>
              <a:rPr lang="pl-PL" dirty="0" err="1" smtClean="0"/>
              <a:t>back</a:t>
            </a:r>
            <a:r>
              <a:rPr lang="pl-PL" dirty="0" smtClean="0"/>
              <a:t>-endu. Powyższe rzeczy umożliwiają nam implementację różnych </a:t>
            </a:r>
            <a:r>
              <a:rPr lang="pl-PL" dirty="0" err="1" smtClean="0"/>
              <a:t>zachowań</a:t>
            </a:r>
            <a:r>
              <a:rPr lang="pl-PL" dirty="0" smtClean="0"/>
              <a:t> dla klienta i serwera.</a:t>
            </a:r>
          </a:p>
          <a:p>
            <a:r>
              <a:rPr lang="pl-PL" dirty="0" smtClean="0"/>
              <a:t>Linia 4 -&gt; Tworzy i ustawia zmienną „sesji” na 0 – tylko użytkownik bieżącej sesji będzie miał do niej dostęp. Później poznamy inne rodzaje zmiennych.</a:t>
            </a:r>
          </a:p>
          <a:p>
            <a:endParaRPr lang="pl-PL" dirty="0" smtClean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B10B1-CFAE-4B3D-B1DA-4BA7CB88E0D3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90600"/>
            <a:ext cx="4876800" cy="4410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59711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smtClean="0"/>
              <a:t>HTML w meteor – krótki wstęp</a:t>
            </a:r>
            <a:endParaRPr lang="pl-PL" dirty="0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4495800" y="1066800"/>
            <a:ext cx="4648199" cy="2514600"/>
          </a:xfrm>
        </p:spPr>
        <p:txBody>
          <a:bodyPr>
            <a:normAutofit fontScale="70000" lnSpcReduction="20000"/>
          </a:bodyPr>
          <a:lstStyle/>
          <a:p>
            <a:r>
              <a:rPr lang="pl-PL" dirty="0" smtClean="0"/>
              <a:t>Meteor korzysta z </a:t>
            </a:r>
            <a:r>
              <a:rPr lang="pl-PL" dirty="0" err="1" smtClean="0"/>
              <a:t>Blaze</a:t>
            </a:r>
            <a:r>
              <a:rPr lang="pl-PL" dirty="0" smtClean="0"/>
              <a:t> – biblioteki stworzonej przez </a:t>
            </a:r>
            <a:r>
              <a:rPr lang="pl-PL" dirty="0" err="1" smtClean="0"/>
              <a:t>Meteora</a:t>
            </a:r>
            <a:r>
              <a:rPr lang="pl-PL" dirty="0" smtClean="0"/>
              <a:t>. Zapewnia ona funkcjonalności do tworzenia i wykorzystywania szablonów w prosty sposób.</a:t>
            </a:r>
          </a:p>
          <a:p>
            <a:endParaRPr lang="pl-PL" dirty="0" smtClean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B10B1-CFAE-4B3D-B1DA-4BA7CB88E0D3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875" y="1066800"/>
            <a:ext cx="4429125" cy="2381250"/>
          </a:xfrm>
          <a:prstGeom prst="rect">
            <a:avLst/>
          </a:prstGeom>
        </p:spPr>
      </p:pic>
      <p:sp>
        <p:nvSpPr>
          <p:cNvPr id="7" name="Symbol zastępczy zawartości 2"/>
          <p:cNvSpPr txBox="1">
            <a:spLocks/>
          </p:cNvSpPr>
          <p:nvPr/>
        </p:nvSpPr>
        <p:spPr>
          <a:xfrm>
            <a:off x="33337" y="3539836"/>
            <a:ext cx="8958263" cy="2514600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D2121"/>
              </a:buClr>
              <a:buFont typeface="Wingdings" pitchFamily="2" charset="2"/>
              <a:buChar char="§"/>
              <a:defRPr sz="3200" b="1" kern="120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086A9E"/>
              </a:buClr>
              <a:buFont typeface="Wingdings" pitchFamily="2" charset="2"/>
              <a:buChar char="§"/>
              <a:defRPr sz="2800" kern="1200">
                <a:solidFill>
                  <a:schemeClr val="tx1">
                    <a:lumMod val="95000"/>
                    <a:lumOff val="5000"/>
                  </a:schemeClr>
                </a:solidFill>
                <a:latin typeface="Trebuchet MS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086A9E"/>
              </a:buClr>
              <a:buFont typeface="Wingdings" pitchFamily="2" charset="2"/>
              <a:buChar char="§"/>
              <a:defRPr sz="2400" kern="1200">
                <a:solidFill>
                  <a:schemeClr val="tx1">
                    <a:lumMod val="95000"/>
                    <a:lumOff val="5000"/>
                  </a:schemeClr>
                </a:solidFill>
                <a:latin typeface="Trebuchet MS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086A9E"/>
              </a:buClr>
              <a:buFont typeface="Wingdings" pitchFamily="2" charset="2"/>
              <a:buChar char="§"/>
              <a:defRPr sz="2000" kern="1200">
                <a:solidFill>
                  <a:schemeClr val="tx1">
                    <a:lumMod val="95000"/>
                    <a:lumOff val="5000"/>
                  </a:schemeClr>
                </a:solidFill>
                <a:latin typeface="Trebuchet MS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086A9E"/>
              </a:buClr>
              <a:buFont typeface="Wingdings" pitchFamily="2" charset="2"/>
              <a:buChar char="§"/>
              <a:defRPr sz="2000" kern="1200">
                <a:solidFill>
                  <a:schemeClr val="tx1">
                    <a:lumMod val="95000"/>
                    <a:lumOff val="5000"/>
                  </a:schemeClr>
                </a:solidFill>
                <a:latin typeface="Trebuchet MS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l-PL" dirty="0" smtClean="0"/>
              <a:t>Składnia w </a:t>
            </a:r>
            <a:r>
              <a:rPr lang="pl-PL" dirty="0" err="1" smtClean="0"/>
              <a:t>html-u</a:t>
            </a:r>
            <a:r>
              <a:rPr lang="pl-PL" dirty="0" smtClean="0"/>
              <a:t> bazuje mocno na </a:t>
            </a:r>
            <a:r>
              <a:rPr lang="pl-PL" dirty="0" err="1" smtClean="0"/>
              <a:t>handlebars</a:t>
            </a:r>
            <a:r>
              <a:rPr lang="pl-PL" dirty="0" smtClean="0"/>
              <a:t> </a:t>
            </a:r>
            <a:r>
              <a:rPr lang="pl-PL" dirty="0" err="1" smtClean="0"/>
              <a:t>js</a:t>
            </a:r>
            <a:r>
              <a:rPr lang="pl-PL" dirty="0" smtClean="0"/>
              <a:t> (w sumie nie wiem czy nie została właśnie zrobiona na tej bibliotece).</a:t>
            </a:r>
          </a:p>
          <a:p>
            <a:r>
              <a:rPr lang="pl-PL" dirty="0" smtClean="0"/>
              <a:t>Mechanizmy </a:t>
            </a:r>
            <a:r>
              <a:rPr lang="pl-PL" dirty="0" err="1" smtClean="0"/>
              <a:t>zachowań</a:t>
            </a:r>
            <a:r>
              <a:rPr lang="pl-PL" dirty="0" smtClean="0"/>
              <a:t> szablonu są definiowane w </a:t>
            </a:r>
            <a:r>
              <a:rPr lang="pl-PL" dirty="0" err="1" smtClean="0"/>
              <a:t>JavaScript</a:t>
            </a:r>
            <a:r>
              <a:rPr lang="pl-PL" dirty="0"/>
              <a:t> </a:t>
            </a:r>
            <a:r>
              <a:rPr lang="pl-PL" dirty="0" smtClean="0"/>
              <a:t>(patrz slajd wcześniej). W meteor są one tworzone dynamicznie po użyciu słowa kluczowego „</a:t>
            </a:r>
            <a:r>
              <a:rPr lang="pl-PL" dirty="0" err="1" smtClean="0"/>
              <a:t>Template</a:t>
            </a:r>
            <a:r>
              <a:rPr lang="pl-PL" dirty="0" smtClean="0"/>
              <a:t>”. </a:t>
            </a:r>
          </a:p>
          <a:p>
            <a:pPr lvl="1"/>
            <a:r>
              <a:rPr lang="pl-PL" dirty="0" err="1" smtClean="0"/>
              <a:t>Template</a:t>
            </a:r>
            <a:r>
              <a:rPr lang="pl-PL" dirty="0" smtClean="0"/>
              <a:t> „</a:t>
            </a:r>
            <a:r>
              <a:rPr lang="pl-PL" dirty="0" err="1" smtClean="0"/>
              <a:t>helpers</a:t>
            </a:r>
            <a:r>
              <a:rPr lang="pl-PL" dirty="0" smtClean="0"/>
              <a:t>” powinien zawierać funkcje/zmienne.</a:t>
            </a:r>
          </a:p>
          <a:p>
            <a:pPr lvl="1"/>
            <a:r>
              <a:rPr lang="pl-PL" dirty="0" err="1" smtClean="0"/>
              <a:t>Template</a:t>
            </a:r>
            <a:r>
              <a:rPr lang="pl-PL" dirty="0" smtClean="0"/>
              <a:t> </a:t>
            </a:r>
            <a:r>
              <a:rPr lang="pl-PL" dirty="0" err="1" smtClean="0"/>
              <a:t>events</a:t>
            </a:r>
            <a:r>
              <a:rPr lang="pl-PL" dirty="0" smtClean="0"/>
              <a:t> zawiera z kolei handlery dla poszczególnych </a:t>
            </a:r>
            <a:r>
              <a:rPr lang="pl-PL" dirty="0" err="1" smtClean="0"/>
              <a:t>eventów</a:t>
            </a:r>
            <a:r>
              <a:rPr lang="pl-PL" dirty="0" smtClean="0"/>
              <a:t>. Jeśli użyjemy </a:t>
            </a:r>
            <a:r>
              <a:rPr lang="pl-PL" dirty="0"/>
              <a:t>"</a:t>
            </a:r>
            <a:r>
              <a:rPr lang="pl-PL" dirty="0" err="1"/>
              <a:t>click</a:t>
            </a:r>
            <a:r>
              <a:rPr lang="pl-PL" dirty="0"/>
              <a:t> .</a:t>
            </a:r>
            <a:r>
              <a:rPr lang="pl-PL" dirty="0" err="1" smtClean="0"/>
              <a:t>delete</a:t>
            </a:r>
            <a:r>
              <a:rPr lang="pl-PL" dirty="0" smtClean="0"/>
              <a:t>„ : </a:t>
            </a:r>
            <a:r>
              <a:rPr lang="pl-PL" dirty="0" err="1" smtClean="0"/>
              <a:t>funtcion</a:t>
            </a:r>
            <a:r>
              <a:rPr lang="pl-PL" dirty="0" smtClean="0"/>
              <a:t>() {}; to </a:t>
            </a:r>
            <a:r>
              <a:rPr lang="pl-PL" dirty="0" err="1" smtClean="0"/>
              <a:t>function</a:t>
            </a:r>
            <a:r>
              <a:rPr lang="pl-PL" dirty="0" smtClean="0"/>
              <a:t>() zostanie </a:t>
            </a:r>
            <a:r>
              <a:rPr lang="pl-PL" dirty="0" err="1" smtClean="0"/>
              <a:t>wywoałana</a:t>
            </a:r>
            <a:r>
              <a:rPr lang="pl-PL" dirty="0" smtClean="0"/>
              <a:t> dla każdego elementu w szablonie (</a:t>
            </a:r>
            <a:r>
              <a:rPr lang="pl-PL" dirty="0" err="1" smtClean="0"/>
              <a:t>html</a:t>
            </a:r>
            <a:r>
              <a:rPr lang="pl-PL" dirty="0"/>
              <a:t> </a:t>
            </a:r>
            <a:r>
              <a:rPr lang="pl-PL" dirty="0" err="1" smtClean="0"/>
              <a:t>tag</a:t>
            </a:r>
            <a:r>
              <a:rPr lang="pl-PL" dirty="0" smtClean="0"/>
              <a:t>-u), który ma klasę </a:t>
            </a:r>
            <a:r>
              <a:rPr lang="pl-PL" dirty="0" err="1" smtClean="0"/>
              <a:t>css</a:t>
            </a:r>
            <a:r>
              <a:rPr lang="pl-PL" dirty="0" smtClean="0"/>
              <a:t> „.</a:t>
            </a:r>
            <a:r>
              <a:rPr lang="pl-PL" dirty="0" err="1" smtClean="0"/>
              <a:t>delete</a:t>
            </a:r>
            <a:r>
              <a:rPr lang="pl-PL" dirty="0" smtClean="0"/>
              <a:t>”.</a:t>
            </a:r>
          </a:p>
          <a:p>
            <a:endParaRPr lang="pl-PL" dirty="0" smtClean="0"/>
          </a:p>
        </p:txBody>
      </p:sp>
    </p:spTree>
    <p:extLst>
      <p:ext uri="{BB962C8B-B14F-4D97-AF65-F5344CB8AC3E}">
        <p14:creationId xmlns:p14="http://schemas.microsoft.com/office/powerpoint/2010/main" val="206506549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smtClean="0"/>
              <a:t>Prosta aplikacja chat Część 1</a:t>
            </a:r>
            <a:endParaRPr lang="pl-PL" dirty="0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152400" y="914400"/>
            <a:ext cx="8839200" cy="5486400"/>
          </a:xfrm>
        </p:spPr>
        <p:txBody>
          <a:bodyPr>
            <a:normAutofit/>
          </a:bodyPr>
          <a:lstStyle/>
          <a:p>
            <a:r>
              <a:rPr lang="pl-PL" sz="2400" dirty="0" smtClean="0"/>
              <a:t>Przejdźmy do chat.js i usuńmy wszystko co jest wewnątrz </a:t>
            </a:r>
            <a:r>
              <a:rPr lang="pl-PL" sz="2400" dirty="0" err="1" smtClean="0"/>
              <a:t>Meteor.isClient</a:t>
            </a:r>
            <a:r>
              <a:rPr lang="pl-PL" sz="2400" dirty="0" smtClean="0"/>
              <a:t>.</a:t>
            </a:r>
          </a:p>
          <a:p>
            <a:r>
              <a:rPr lang="pl-PL" sz="2400" dirty="0" smtClean="0"/>
              <a:t>Dodajmy tablicę </a:t>
            </a:r>
            <a:r>
              <a:rPr lang="pl-PL" sz="2400" dirty="0" err="1" smtClean="0"/>
              <a:t>chatMessages</a:t>
            </a:r>
            <a:r>
              <a:rPr lang="pl-PL" sz="2400" dirty="0" smtClean="0"/>
              <a:t> dla body. Stanie się ona monitorowaną tablicą dostępną w całej aplikacji.</a:t>
            </a:r>
            <a:r>
              <a:rPr lang="pl-PL" dirty="0" smtClean="0"/>
              <a:t/>
            </a:r>
            <a:br>
              <a:rPr lang="pl-PL" dirty="0" smtClean="0"/>
            </a:br>
            <a:endParaRPr lang="pl-PL" dirty="0" smtClean="0"/>
          </a:p>
          <a:p>
            <a:endParaRPr lang="pl-PL" dirty="0"/>
          </a:p>
          <a:p>
            <a:pPr marL="0" indent="0">
              <a:buNone/>
            </a:pPr>
            <a:endParaRPr lang="pl-PL" dirty="0" smtClean="0"/>
          </a:p>
          <a:p>
            <a:pPr marL="0" indent="0">
              <a:buNone/>
            </a:pPr>
            <a:endParaRPr lang="pl-PL" dirty="0"/>
          </a:p>
          <a:p>
            <a:r>
              <a:rPr lang="pl-PL" sz="2400" dirty="0" smtClean="0"/>
              <a:t>W </a:t>
            </a:r>
            <a:r>
              <a:rPr lang="pl-PL" sz="2400" dirty="0" err="1" smtClean="0"/>
              <a:t>html</a:t>
            </a:r>
            <a:r>
              <a:rPr lang="pl-PL" sz="2400" dirty="0" smtClean="0"/>
              <a:t> odwołajmy się do naszej tablicy.</a:t>
            </a:r>
          </a:p>
          <a:p>
            <a:pPr lvl="1"/>
            <a:r>
              <a:rPr lang="pl-PL" sz="2000" dirty="0" smtClean="0"/>
              <a:t>Przejdź do przeglądarki i zobacz co się stało…</a:t>
            </a:r>
          </a:p>
          <a:p>
            <a:pPr lvl="1"/>
            <a:r>
              <a:rPr lang="pl-PL" sz="2000" dirty="0" smtClean="0"/>
              <a:t>Dlaczego widzimy „</a:t>
            </a:r>
            <a:r>
              <a:rPr lang="pl-PL" sz="2000" dirty="0"/>
              <a:t>[</a:t>
            </a:r>
            <a:r>
              <a:rPr lang="pl-PL" sz="2000" dirty="0" err="1"/>
              <a:t>object</a:t>
            </a:r>
            <a:r>
              <a:rPr lang="pl-PL" sz="2000" dirty="0"/>
              <a:t> Object</a:t>
            </a:r>
            <a:r>
              <a:rPr lang="pl-PL" sz="2000" dirty="0" smtClean="0"/>
              <a:t>],…” zamiast</a:t>
            </a:r>
            <a:br>
              <a:rPr lang="pl-PL" sz="2000" dirty="0" smtClean="0"/>
            </a:br>
            <a:r>
              <a:rPr lang="pl-PL" sz="2000" dirty="0" smtClean="0"/>
              <a:t>autora i wiadomości? 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B10B1-CFAE-4B3D-B1DA-4BA7CB88E0D3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4724400"/>
            <a:ext cx="2066925" cy="14859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109" y="2667000"/>
            <a:ext cx="3733800" cy="16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388733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smtClean="0"/>
              <a:t>Prosta aplikacja chat Część 1</a:t>
            </a:r>
            <a:endParaRPr lang="pl-PL" dirty="0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152400" y="914400"/>
            <a:ext cx="8839200" cy="5486400"/>
          </a:xfrm>
        </p:spPr>
        <p:txBody>
          <a:bodyPr>
            <a:normAutofit/>
          </a:bodyPr>
          <a:lstStyle/>
          <a:p>
            <a:r>
              <a:rPr lang="pl-PL" sz="2400" dirty="0" smtClean="0"/>
              <a:t>Ponieważ </a:t>
            </a:r>
            <a:r>
              <a:rPr lang="pl-PL" sz="2400" dirty="0" err="1" smtClean="0"/>
              <a:t>html</a:t>
            </a:r>
            <a:r>
              <a:rPr lang="pl-PL" sz="2400" dirty="0" smtClean="0"/>
              <a:t> (widok) widzi tylko tablicę obiektów. Nie ma żadnej klasy, nie ma określonego </a:t>
            </a:r>
            <a:r>
              <a:rPr lang="pl-PL" sz="2400" dirty="0" err="1" smtClean="0"/>
              <a:t>templatu</a:t>
            </a:r>
            <a:r>
              <a:rPr lang="pl-PL" sz="2400" dirty="0" smtClean="0"/>
              <a:t> dzięki któremu </a:t>
            </a:r>
            <a:r>
              <a:rPr lang="pl-PL" sz="2400" dirty="0" err="1" smtClean="0"/>
              <a:t>blaze</a:t>
            </a:r>
            <a:r>
              <a:rPr lang="pl-PL" sz="2400" dirty="0" smtClean="0"/>
              <a:t> mógłby </a:t>
            </a:r>
            <a:r>
              <a:rPr lang="pl-PL" sz="2400" dirty="0" err="1" smtClean="0"/>
              <a:t>zbindować</a:t>
            </a:r>
            <a:r>
              <a:rPr lang="pl-PL" sz="2400" dirty="0" smtClean="0"/>
              <a:t> „Author” oraz „Message” do odpowiednich elementów w DOM.</a:t>
            </a:r>
          </a:p>
          <a:p>
            <a:r>
              <a:rPr lang="pl-PL" sz="2400" dirty="0" smtClean="0"/>
              <a:t>Dodajemy </a:t>
            </a:r>
            <a:r>
              <a:rPr lang="pl-PL" sz="2400" dirty="0" err="1" smtClean="0"/>
              <a:t>template</a:t>
            </a:r>
            <a:r>
              <a:rPr lang="pl-PL" sz="2400" dirty="0" smtClean="0"/>
              <a:t> (na końcu naszego pliku </a:t>
            </a:r>
            <a:r>
              <a:rPr lang="pl-PL" sz="2400" dirty="0" err="1" smtClean="0"/>
              <a:t>html</a:t>
            </a:r>
            <a:r>
              <a:rPr lang="pl-PL" sz="2400" dirty="0" smtClean="0"/>
              <a:t>).</a:t>
            </a:r>
            <a:br>
              <a:rPr lang="pl-PL" sz="2400" dirty="0" smtClean="0"/>
            </a:br>
            <a:endParaRPr lang="pl-PL" sz="2400" dirty="0" smtClean="0"/>
          </a:p>
          <a:p>
            <a:endParaRPr lang="pl-PL" sz="2400" dirty="0"/>
          </a:p>
          <a:p>
            <a:endParaRPr lang="pl-PL" sz="2400" dirty="0" smtClean="0"/>
          </a:p>
          <a:p>
            <a:r>
              <a:rPr lang="pl-PL" sz="2400" dirty="0" err="1" smtClean="0"/>
              <a:t>Template</a:t>
            </a:r>
            <a:r>
              <a:rPr lang="pl-PL" sz="2400" dirty="0" smtClean="0"/>
              <a:t> powinien zostać wygenerowany dla każdego elementu tablicy „</a:t>
            </a:r>
            <a:r>
              <a:rPr lang="pl-PL" sz="2400" dirty="0" err="1" smtClean="0"/>
              <a:t>chatMessages</a:t>
            </a:r>
            <a:r>
              <a:rPr lang="pl-PL" sz="2400" dirty="0" smtClean="0"/>
              <a:t>”, a robi się to tak;</a:t>
            </a:r>
          </a:p>
          <a:p>
            <a:endParaRPr lang="pl-PL" sz="2400" dirty="0" smtClean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B10B1-CFAE-4B3D-B1DA-4BA7CB88E0D3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895600"/>
            <a:ext cx="3819525" cy="12573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798" y="4953000"/>
            <a:ext cx="1905000" cy="119062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590800" y="5259169"/>
            <a:ext cx="4495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 smtClean="0"/>
              <a:t>Dla każdego elementu tablicy </a:t>
            </a:r>
            <a:r>
              <a:rPr lang="pl-PL" dirty="0" err="1" smtClean="0"/>
              <a:t>chatMessages</a:t>
            </a:r>
            <a:r>
              <a:rPr lang="pl-PL" dirty="0" smtClean="0"/>
              <a:t>, zastosuj szablon „</a:t>
            </a:r>
            <a:r>
              <a:rPr lang="pl-PL" dirty="0" err="1" smtClean="0"/>
              <a:t>chatMessage</a:t>
            </a:r>
            <a:r>
              <a:rPr lang="pl-PL" dirty="0" smtClean="0"/>
              <a:t>”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87432248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smtClean="0"/>
              <a:t>Prosta aplikacja chat Część 1 - Przystanek</a:t>
            </a:r>
            <a:endParaRPr lang="pl-PL" dirty="0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152400" y="914400"/>
            <a:ext cx="8839200" cy="5486400"/>
          </a:xfrm>
        </p:spPr>
        <p:txBody>
          <a:bodyPr>
            <a:normAutofit/>
          </a:bodyPr>
          <a:lstStyle/>
          <a:p>
            <a:r>
              <a:rPr lang="pl-PL" sz="2400" dirty="0" smtClean="0"/>
              <a:t>Napijcie się wody, weźcie głęboki wdech. Zrobiliśmy całkiem dużo;</a:t>
            </a:r>
          </a:p>
          <a:p>
            <a:pPr lvl="1"/>
            <a:r>
              <a:rPr lang="pl-PL" sz="2000" dirty="0" smtClean="0"/>
              <a:t>Podstawowa obsługa IDE Atom.</a:t>
            </a:r>
          </a:p>
          <a:p>
            <a:pPr lvl="1"/>
            <a:r>
              <a:rPr lang="pl-PL" sz="2000" dirty="0" smtClean="0"/>
              <a:t>Instalacja i tworzenie projektu Meteor.</a:t>
            </a:r>
          </a:p>
          <a:p>
            <a:pPr lvl="1"/>
            <a:r>
              <a:rPr lang="pl-PL" sz="2000" dirty="0" smtClean="0"/>
              <a:t>Wiemy co to jest Meteor, z czego składają się jego główne części.</a:t>
            </a:r>
          </a:p>
          <a:p>
            <a:pPr lvl="1"/>
            <a:r>
              <a:rPr lang="pl-PL" sz="2000" dirty="0" smtClean="0"/>
              <a:t>Poznaliśmy zasadę działania </a:t>
            </a:r>
            <a:r>
              <a:rPr lang="pl-PL" sz="2000" dirty="0" err="1" smtClean="0"/>
              <a:t>Meteora</a:t>
            </a:r>
            <a:r>
              <a:rPr lang="pl-PL" sz="2000" dirty="0" smtClean="0"/>
              <a:t> (</a:t>
            </a:r>
            <a:r>
              <a:rPr lang="pl-PL" sz="2000" dirty="0" err="1" smtClean="0"/>
              <a:t>publisher-subscriber</a:t>
            </a:r>
            <a:r>
              <a:rPr lang="pl-PL" sz="2000" dirty="0" smtClean="0"/>
              <a:t>).</a:t>
            </a:r>
          </a:p>
          <a:p>
            <a:pPr lvl="1"/>
            <a:r>
              <a:rPr lang="pl-PL" sz="2000" dirty="0" smtClean="0"/>
              <a:t>Wiemy jak uruchamiać, pracować edytować projekt przy użyciu przeglądarki i </a:t>
            </a:r>
            <a:r>
              <a:rPr lang="pl-PL" sz="2000" dirty="0" err="1" smtClean="0"/>
              <a:t>Atoma</a:t>
            </a:r>
            <a:r>
              <a:rPr lang="pl-PL" sz="2000" dirty="0" smtClean="0"/>
              <a:t>.</a:t>
            </a:r>
          </a:p>
          <a:p>
            <a:pPr lvl="1"/>
            <a:r>
              <a:rPr lang="pl-PL" sz="2000" dirty="0" smtClean="0"/>
              <a:t>Potrafimy stworzyć szablon.</a:t>
            </a:r>
          </a:p>
          <a:p>
            <a:pPr lvl="1"/>
            <a:r>
              <a:rPr lang="pl-PL" sz="2000" dirty="0" smtClean="0"/>
              <a:t>Wiemy </a:t>
            </a:r>
            <a:r>
              <a:rPr lang="pl-PL" sz="2000" dirty="0" smtClean="0"/>
              <a:t>na jakiej zasadzie działają </a:t>
            </a:r>
            <a:r>
              <a:rPr lang="pl-PL" sz="2000" dirty="0" err="1" smtClean="0"/>
              <a:t>eventy</a:t>
            </a:r>
            <a:r>
              <a:rPr lang="pl-PL" sz="2000" dirty="0" smtClean="0"/>
              <a:t> szablonów.</a:t>
            </a:r>
          </a:p>
          <a:p>
            <a:pPr lvl="1"/>
            <a:r>
              <a:rPr lang="pl-PL" sz="2000" dirty="0" smtClean="0"/>
              <a:t>Wiemy jak wykorzystać </a:t>
            </a:r>
            <a:r>
              <a:rPr lang="pl-PL" sz="2000" dirty="0" err="1" smtClean="0"/>
              <a:t>helpery</a:t>
            </a:r>
            <a:r>
              <a:rPr lang="pl-PL" sz="2000" dirty="0" smtClean="0"/>
              <a:t> i jak po nich iterować na widoku używając języka szablonowego </a:t>
            </a:r>
            <a:r>
              <a:rPr lang="pl-PL" sz="2000" dirty="0" err="1" smtClean="0"/>
              <a:t>mustache</a:t>
            </a:r>
            <a:r>
              <a:rPr lang="pl-PL" sz="2000" dirty="0" smtClean="0"/>
              <a:t> rozszerzonego o</a:t>
            </a:r>
            <a:br>
              <a:rPr lang="pl-PL" sz="2000" dirty="0" smtClean="0"/>
            </a:br>
            <a:endParaRPr lang="pl-PL" sz="2000" dirty="0" smtClean="0"/>
          </a:p>
          <a:p>
            <a:endParaRPr lang="pl-PL" sz="2400" dirty="0"/>
          </a:p>
          <a:p>
            <a:endParaRPr lang="pl-PL" sz="2400" dirty="0" smtClean="0"/>
          </a:p>
          <a:p>
            <a:endParaRPr lang="pl-PL" sz="2400" dirty="0" smtClean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B10B1-CFAE-4B3D-B1DA-4BA7CB88E0D3}" type="slidenum">
              <a:rPr lang="en-US" smtClean="0"/>
              <a:pPr/>
              <a:t>13</a:t>
            </a:fld>
            <a:endParaRPr lang="en-US"/>
          </a:p>
        </p:txBody>
      </p:sp>
      <p:pic>
        <p:nvPicPr>
          <p:cNvPr id="1026" name="Picture 2" descr="Handlebars.js: Minimal Templating on Steroid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5318709"/>
            <a:ext cx="1676400" cy="1264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1674089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smtClean="0"/>
              <a:t>Prosta aplikacja chat Część 2</a:t>
            </a:r>
            <a:endParaRPr lang="pl-PL" dirty="0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152400" y="914400"/>
            <a:ext cx="8839200" cy="5486400"/>
          </a:xfrm>
        </p:spPr>
        <p:txBody>
          <a:bodyPr>
            <a:normAutofit lnSpcReduction="10000"/>
          </a:bodyPr>
          <a:lstStyle/>
          <a:p>
            <a:r>
              <a:rPr lang="pl-PL" sz="2400" dirty="0" smtClean="0"/>
              <a:t>Czas wykorzystać </a:t>
            </a:r>
            <a:r>
              <a:rPr lang="pl-PL" sz="2400" dirty="0" err="1" smtClean="0"/>
              <a:t>MongoDB</a:t>
            </a:r>
            <a:r>
              <a:rPr lang="pl-PL" sz="2400" dirty="0" smtClean="0"/>
              <a:t> zamiast tablicy </a:t>
            </a:r>
            <a:r>
              <a:rPr lang="pl-PL" sz="2400" dirty="0" err="1" smtClean="0"/>
              <a:t>js</a:t>
            </a:r>
            <a:r>
              <a:rPr lang="pl-PL" sz="2400" dirty="0" smtClean="0"/>
              <a:t> trzymanej w </a:t>
            </a:r>
            <a:r>
              <a:rPr lang="pl-PL" sz="2400" dirty="0" err="1" smtClean="0"/>
              <a:t>helpers</a:t>
            </a:r>
            <a:r>
              <a:rPr lang="pl-PL" sz="2400" dirty="0" smtClean="0"/>
              <a:t> dla body.</a:t>
            </a:r>
          </a:p>
          <a:p>
            <a:r>
              <a:rPr lang="pl-PL" sz="2400" dirty="0" smtClean="0"/>
              <a:t>W pierwszej </a:t>
            </a:r>
            <a:r>
              <a:rPr lang="pl-PL" sz="2400" dirty="0" err="1" smtClean="0"/>
              <a:t>linijcę</a:t>
            </a:r>
            <a:r>
              <a:rPr lang="pl-PL" sz="2400" dirty="0" smtClean="0"/>
              <a:t> naszego pliku </a:t>
            </a:r>
            <a:r>
              <a:rPr lang="pl-PL" sz="2400" dirty="0" err="1" smtClean="0"/>
              <a:t>js</a:t>
            </a:r>
            <a:r>
              <a:rPr lang="pl-PL" sz="2400" dirty="0"/>
              <a:t>, piszemy;</a:t>
            </a:r>
            <a:br>
              <a:rPr lang="pl-PL" sz="2400" dirty="0"/>
            </a:br>
            <a:r>
              <a:rPr lang="pl-PL" sz="20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ChatMessages</a:t>
            </a:r>
            <a:r>
              <a:rPr lang="pl-PL" sz="20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pl-PL" sz="20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new</a:t>
            </a:r>
            <a:r>
              <a:rPr lang="pl-PL" sz="20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l-PL" sz="20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Mongo.Collection</a:t>
            </a:r>
            <a:r>
              <a:rPr lang="pl-PL" sz="20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('</a:t>
            </a:r>
            <a:r>
              <a:rPr lang="pl-PL" sz="20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chatMessages</a:t>
            </a:r>
            <a:r>
              <a:rPr lang="pl-PL" sz="2000" dirty="0" smtClean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');</a:t>
            </a:r>
          </a:p>
          <a:p>
            <a:r>
              <a:rPr lang="pl-PL" sz="2400" dirty="0" smtClean="0"/>
              <a:t>Zmieniamy nasz </a:t>
            </a:r>
            <a:r>
              <a:rPr lang="pl-PL" sz="2400" dirty="0" err="1" smtClean="0"/>
              <a:t>helper</a:t>
            </a:r>
            <a:r>
              <a:rPr lang="pl-PL" sz="2400" dirty="0" smtClean="0"/>
              <a:t> „</a:t>
            </a:r>
            <a:r>
              <a:rPr lang="pl-PL" sz="2400" dirty="0" err="1" smtClean="0"/>
              <a:t>chatMessages</a:t>
            </a:r>
            <a:r>
              <a:rPr lang="pl-PL" sz="2400" dirty="0" smtClean="0"/>
              <a:t>” aby zamiast tablicy zdefiniowanej na sztywno zwracał zdefiniowaną w wcześniejszym kroku kolekcje. </a:t>
            </a:r>
          </a:p>
          <a:p>
            <a:endParaRPr lang="pl-PL" sz="2400" dirty="0"/>
          </a:p>
          <a:p>
            <a:endParaRPr lang="pl-PL" sz="2400" dirty="0" smtClean="0"/>
          </a:p>
          <a:p>
            <a:endParaRPr lang="pl-PL" sz="2400" dirty="0"/>
          </a:p>
          <a:p>
            <a:endParaRPr lang="pl-PL" sz="2400" dirty="0" smtClean="0"/>
          </a:p>
          <a:p>
            <a:r>
              <a:rPr lang="pl-PL" sz="2400" dirty="0" smtClean="0"/>
              <a:t>Gotowe! </a:t>
            </a:r>
            <a:r>
              <a:rPr lang="pl-PL" sz="2400" dirty="0" smtClean="0">
                <a:sym typeface="Wingdings" panose="05000000000000000000" pitchFamily="2" charset="2"/>
              </a:rPr>
              <a:t> Niestety nasza kolekcja jest pusta. Dodajmy coś do niej – nie musimy robić tego w kodzie.</a:t>
            </a:r>
            <a:r>
              <a:rPr lang="pl-PL" sz="2400" dirty="0" smtClean="0"/>
              <a:t/>
            </a:r>
            <a:br>
              <a:rPr lang="pl-PL" sz="2400" dirty="0" smtClean="0"/>
            </a:br>
            <a:endParaRPr lang="pl-PL" sz="2400" dirty="0" smtClean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B10B1-CFAE-4B3D-B1DA-4BA7CB88E0D3}" type="slidenum">
              <a:rPr lang="en-US" smtClean="0"/>
              <a:pPr/>
              <a:t>14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057" y="3352800"/>
            <a:ext cx="4086225" cy="1647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727770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smtClean="0"/>
              <a:t>Prosta aplikacja chat Część 2</a:t>
            </a:r>
            <a:endParaRPr lang="pl-PL" dirty="0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152400" y="914400"/>
            <a:ext cx="8839200" cy="5486400"/>
          </a:xfrm>
        </p:spPr>
        <p:txBody>
          <a:bodyPr>
            <a:normAutofit/>
          </a:bodyPr>
          <a:lstStyle/>
          <a:p>
            <a:r>
              <a:rPr lang="pl-PL" sz="2400" dirty="0" smtClean="0"/>
              <a:t>Odpalamy jeszcze jedną instancję konsoli, przechodzimy do ścieżki naszego projektu i uruchamiamy komendę:</a:t>
            </a:r>
            <a:br>
              <a:rPr lang="pl-PL" sz="2400" dirty="0" smtClean="0"/>
            </a:br>
            <a:r>
              <a:rPr lang="pl-PL" sz="2400" dirty="0" smtClean="0"/>
              <a:t>meteor </a:t>
            </a:r>
            <a:r>
              <a:rPr lang="pl-PL" sz="2400" dirty="0" err="1" smtClean="0"/>
              <a:t>mongo</a:t>
            </a:r>
            <a:r>
              <a:rPr lang="pl-PL" sz="2400" dirty="0" smtClean="0"/>
              <a:t>. Utworzy się połączenie do bazy.</a:t>
            </a:r>
          </a:p>
          <a:p>
            <a:r>
              <a:rPr lang="pl-PL" sz="2400" dirty="0" smtClean="0"/>
              <a:t>Baza ta jest po stronie serwera, otwórz chrome w trybie incognito (zasymulujmy po prostu innego podłączonego </a:t>
            </a:r>
            <a:r>
              <a:rPr lang="pl-PL" sz="2400" dirty="0" err="1" smtClean="0"/>
              <a:t>usera</a:t>
            </a:r>
            <a:r>
              <a:rPr lang="pl-PL" sz="2400" dirty="0" smtClean="0"/>
              <a:t>). </a:t>
            </a:r>
          </a:p>
          <a:p>
            <a:r>
              <a:rPr lang="pl-PL" sz="2400" dirty="0" smtClean="0"/>
              <a:t>Wykonajmy </a:t>
            </a:r>
            <a:r>
              <a:rPr lang="pl-PL" sz="2400" dirty="0" err="1" smtClean="0"/>
              <a:t>inserta</a:t>
            </a:r>
            <a:r>
              <a:rPr lang="pl-PL" sz="2400" dirty="0" smtClean="0"/>
              <a:t> do </a:t>
            </a:r>
            <a:r>
              <a:rPr lang="pl-PL" sz="2400" dirty="0" err="1" smtClean="0"/>
              <a:t>MongoDB</a:t>
            </a:r>
            <a:r>
              <a:rPr lang="pl-PL" sz="2400" dirty="0" smtClean="0"/>
              <a:t> poprzez komendę</a:t>
            </a:r>
          </a:p>
          <a:p>
            <a:pPr lvl="1"/>
            <a:r>
              <a:rPr lang="pl-PL" sz="16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Db.chatMessages.insert</a:t>
            </a:r>
            <a:r>
              <a:rPr lang="pl-PL" sz="1600" dirty="0" smtClean="0">
                <a:latin typeface="Consolas" panose="020B0609020204030204" pitchFamily="49" charset="0"/>
                <a:cs typeface="Consolas" panose="020B0609020204030204" pitchFamily="49" charset="0"/>
              </a:rPr>
              <a:t>({Author: „User1”, Message: „</a:t>
            </a:r>
            <a:r>
              <a:rPr lang="pl-PL" sz="16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Anybody</a:t>
            </a:r>
            <a:r>
              <a:rPr lang="pl-PL" sz="16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l-PL" sz="16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here</a:t>
            </a:r>
            <a:r>
              <a:rPr lang="pl-PL" sz="1600" dirty="0" smtClean="0">
                <a:latin typeface="Consolas" panose="020B0609020204030204" pitchFamily="49" charset="0"/>
                <a:cs typeface="Consolas" panose="020B0609020204030204" pitchFamily="49" charset="0"/>
              </a:rPr>
              <a:t>?”});</a:t>
            </a:r>
          </a:p>
          <a:p>
            <a:pPr lvl="1"/>
            <a:r>
              <a:rPr lang="pl-PL" sz="1600" dirty="0" smtClean="0"/>
              <a:t>Zobacz w przeglądarce jak nasz real-</a:t>
            </a:r>
            <a:r>
              <a:rPr lang="pl-PL" sz="1600" dirty="0" err="1" smtClean="0"/>
              <a:t>time</a:t>
            </a:r>
            <a:r>
              <a:rPr lang="pl-PL" sz="1600" dirty="0" smtClean="0"/>
              <a:t> web </a:t>
            </a:r>
            <a:r>
              <a:rPr lang="pl-PL" sz="1600" dirty="0" err="1" smtClean="0"/>
              <a:t>framework</a:t>
            </a:r>
            <a:r>
              <a:rPr lang="pl-PL" sz="1600" dirty="0" smtClean="0"/>
              <a:t> zrobił nam real-</a:t>
            </a:r>
            <a:r>
              <a:rPr lang="pl-PL" sz="1600" dirty="0" err="1" smtClean="0"/>
              <a:t>time</a:t>
            </a:r>
            <a:r>
              <a:rPr lang="pl-PL" sz="1600" dirty="0" smtClean="0"/>
              <a:t> </a:t>
            </a:r>
            <a:r>
              <a:rPr lang="pl-PL" sz="1600" dirty="0" smtClean="0">
                <a:sym typeface="Wingdings" panose="05000000000000000000" pitchFamily="2" charset="2"/>
              </a:rPr>
              <a:t></a:t>
            </a:r>
            <a:r>
              <a:rPr lang="pl-PL" sz="1600" dirty="0" smtClean="0"/>
              <a:t/>
            </a:r>
            <a:br>
              <a:rPr lang="pl-PL" sz="1600" dirty="0" smtClean="0"/>
            </a:br>
            <a:endParaRPr lang="pl-PL" sz="1600" dirty="0" smtClean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B10B1-CFAE-4B3D-B1DA-4BA7CB88E0D3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7719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smtClean="0"/>
              <a:t>Prosta aplikacja chat Część 2</a:t>
            </a:r>
            <a:endParaRPr lang="pl-PL" dirty="0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152400" y="914400"/>
            <a:ext cx="8839200" cy="5486400"/>
          </a:xfrm>
        </p:spPr>
        <p:txBody>
          <a:bodyPr>
            <a:normAutofit/>
          </a:bodyPr>
          <a:lstStyle/>
          <a:p>
            <a:r>
              <a:rPr lang="pl-PL" sz="2400" dirty="0" smtClean="0"/>
              <a:t>Fajnie byłoby gdyby można było dodać jakąś wiadomość na stronie </a:t>
            </a:r>
            <a:r>
              <a:rPr lang="pl-PL" sz="2400" dirty="0" smtClean="0">
                <a:sym typeface="Wingdings" panose="05000000000000000000" pitchFamily="2" charset="2"/>
              </a:rPr>
              <a:t> Dodajmy &lt;form&gt; do widoku, oraz uporządkujmy trochę </a:t>
            </a:r>
            <a:br>
              <a:rPr lang="pl-PL" sz="2400" dirty="0" smtClean="0">
                <a:sym typeface="Wingdings" panose="05000000000000000000" pitchFamily="2" charset="2"/>
              </a:rPr>
            </a:br>
            <a:r>
              <a:rPr lang="pl-PL" sz="2400" dirty="0" smtClean="0">
                <a:sym typeface="Wingdings" panose="05000000000000000000" pitchFamily="2" charset="2"/>
              </a:rPr>
              <a:t>HTML.</a:t>
            </a:r>
            <a:endParaRPr lang="pl-PL" sz="1600" dirty="0">
              <a:sym typeface="Wingdings" panose="05000000000000000000" pitchFamily="2" charset="2"/>
            </a:endParaRPr>
          </a:p>
          <a:p>
            <a:pPr lvl="1"/>
            <a:r>
              <a:rPr lang="pl-PL" sz="1600" dirty="0" smtClean="0"/>
              <a:t>Dodajmy </a:t>
            </a:r>
            <a:r>
              <a:rPr lang="pl-PL" sz="1600" dirty="0" err="1" smtClean="0"/>
              <a:t>input</a:t>
            </a:r>
            <a:r>
              <a:rPr lang="pl-PL" sz="1600" dirty="0" smtClean="0"/>
              <a:t> typu </a:t>
            </a:r>
            <a:r>
              <a:rPr lang="pl-PL" sz="1600" dirty="0" err="1" smtClean="0"/>
              <a:t>text</a:t>
            </a:r>
            <a:r>
              <a:rPr lang="pl-PL" sz="1600" dirty="0" smtClean="0"/>
              <a:t/>
            </a:r>
            <a:br>
              <a:rPr lang="pl-PL" sz="1600" dirty="0" smtClean="0"/>
            </a:br>
            <a:r>
              <a:rPr lang="pl-PL" sz="1600" dirty="0" smtClean="0"/>
              <a:t>do którego będziemy</a:t>
            </a:r>
            <a:br>
              <a:rPr lang="pl-PL" sz="1600" dirty="0" smtClean="0"/>
            </a:br>
            <a:r>
              <a:rPr lang="pl-PL" sz="1600" dirty="0" smtClean="0"/>
              <a:t>wpisywać wiadomości.</a:t>
            </a:r>
          </a:p>
          <a:p>
            <a:pPr lvl="1"/>
            <a:r>
              <a:rPr lang="pl-PL" sz="1600" dirty="0" smtClean="0"/>
              <a:t>Dodajmy </a:t>
            </a:r>
            <a:r>
              <a:rPr lang="pl-PL" sz="1600" dirty="0" err="1" smtClean="0"/>
              <a:t>submit</a:t>
            </a:r>
            <a:r>
              <a:rPr lang="pl-PL" sz="1600" dirty="0"/>
              <a:t> </a:t>
            </a:r>
            <a:r>
              <a:rPr lang="pl-PL" sz="1600" dirty="0" smtClean="0"/>
              <a:t>-&gt; Button</a:t>
            </a:r>
            <a:br>
              <a:rPr lang="pl-PL" sz="1600" dirty="0" smtClean="0"/>
            </a:br>
            <a:r>
              <a:rPr lang="pl-PL" sz="1600" dirty="0" smtClean="0"/>
              <a:t>do wysyłania &lt;form&gt;.</a:t>
            </a:r>
          </a:p>
          <a:p>
            <a:pPr lvl="1"/>
            <a:r>
              <a:rPr lang="pl-PL" sz="1600" dirty="0" smtClean="0"/>
              <a:t>Całość opakujmy w </a:t>
            </a:r>
            <a:r>
              <a:rPr lang="pl-PL" sz="1600" dirty="0" err="1" smtClean="0"/>
              <a:t>header</a:t>
            </a:r>
            <a:r>
              <a:rPr lang="pl-PL" sz="1600" dirty="0" smtClean="0"/>
              <a:t>,</a:t>
            </a:r>
            <a:br>
              <a:rPr lang="pl-PL" sz="1600" dirty="0" smtClean="0"/>
            </a:br>
            <a:r>
              <a:rPr lang="pl-PL" sz="1600" dirty="0" smtClean="0"/>
              <a:t>reszta pozostaje bez </a:t>
            </a:r>
            <a:r>
              <a:rPr lang="pl-PL" sz="1600" dirty="0" smtClean="0"/>
              <a:t>zmian.</a:t>
            </a:r>
          </a:p>
          <a:p>
            <a:pPr lvl="1"/>
            <a:r>
              <a:rPr lang="pl-PL" sz="1600" dirty="0" smtClean="0"/>
              <a:t>Dodatkowo dodajemy parę klas</a:t>
            </a:r>
            <a:br>
              <a:rPr lang="pl-PL" sz="1600" dirty="0" smtClean="0"/>
            </a:br>
            <a:r>
              <a:rPr lang="pl-PL" sz="1600" dirty="0" smtClean="0"/>
              <a:t>do naszych elementów, w celu</a:t>
            </a:r>
            <a:br>
              <a:rPr lang="pl-PL" sz="1600" dirty="0" smtClean="0"/>
            </a:br>
            <a:r>
              <a:rPr lang="pl-PL" sz="1600" dirty="0" smtClean="0"/>
              <a:t>późniejszego </a:t>
            </a:r>
            <a:r>
              <a:rPr lang="pl-PL" sz="1600" dirty="0" err="1" smtClean="0"/>
              <a:t>ostylowania</a:t>
            </a:r>
            <a:r>
              <a:rPr lang="pl-PL" sz="1600" dirty="0" smtClean="0"/>
              <a:t>.</a:t>
            </a:r>
            <a:endParaRPr lang="pl-PL" sz="1600" dirty="0" smtClean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B10B1-CFAE-4B3D-B1DA-4BA7CB88E0D3}" type="slidenum">
              <a:rPr lang="en-US" smtClean="0"/>
              <a:pPr/>
              <a:t>16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8600" y="1688782"/>
            <a:ext cx="5105400" cy="5169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149778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smtClean="0"/>
              <a:t>Prosta aplikacja chat Część 2</a:t>
            </a:r>
            <a:endParaRPr lang="pl-PL" dirty="0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152400" y="914400"/>
            <a:ext cx="8839200" cy="5486400"/>
          </a:xfrm>
        </p:spPr>
        <p:txBody>
          <a:bodyPr>
            <a:normAutofit/>
          </a:bodyPr>
          <a:lstStyle/>
          <a:p>
            <a:r>
              <a:rPr lang="pl-PL" sz="2400" dirty="0" smtClean="0"/>
              <a:t>Dodajmy teraz handlera do naszej formy, który zajmie się resztą.</a:t>
            </a:r>
          </a:p>
          <a:p>
            <a:endParaRPr lang="pl-PL" sz="2400" dirty="0"/>
          </a:p>
          <a:p>
            <a:endParaRPr lang="pl-PL" sz="2400" dirty="0" smtClean="0"/>
          </a:p>
          <a:p>
            <a:endParaRPr lang="pl-PL" sz="2400" dirty="0"/>
          </a:p>
          <a:p>
            <a:endParaRPr lang="pl-PL" sz="2400" dirty="0" smtClean="0"/>
          </a:p>
          <a:p>
            <a:endParaRPr lang="pl-PL" sz="2400" dirty="0"/>
          </a:p>
          <a:p>
            <a:pPr lvl="1"/>
            <a:r>
              <a:rPr lang="pl-PL" sz="2000" dirty="0" smtClean="0"/>
              <a:t>9 -&gt; </a:t>
            </a:r>
            <a:r>
              <a:rPr lang="pl-PL" sz="2000" dirty="0" err="1" smtClean="0"/>
              <a:t>Event</a:t>
            </a:r>
            <a:r>
              <a:rPr lang="pl-PL" sz="2000" dirty="0" smtClean="0"/>
              <a:t> </a:t>
            </a:r>
            <a:r>
              <a:rPr lang="pl-PL" sz="2000" dirty="0" err="1" smtClean="0"/>
              <a:t>submit</a:t>
            </a:r>
            <a:r>
              <a:rPr lang="pl-PL" sz="2000" dirty="0" smtClean="0"/>
              <a:t> dla </a:t>
            </a:r>
            <a:r>
              <a:rPr lang="pl-PL" sz="2000" dirty="0" err="1" smtClean="0"/>
              <a:t>elemntu</a:t>
            </a:r>
            <a:r>
              <a:rPr lang="pl-PL" sz="2000" dirty="0" smtClean="0"/>
              <a:t> </a:t>
            </a:r>
            <a:r>
              <a:rPr lang="pl-PL" sz="2000" dirty="0" err="1" smtClean="0"/>
              <a:t>html</a:t>
            </a:r>
            <a:r>
              <a:rPr lang="pl-PL" sz="2000" dirty="0" smtClean="0"/>
              <a:t> z klasą .net-</a:t>
            </a:r>
            <a:r>
              <a:rPr lang="pl-PL" sz="2000" dirty="0" err="1" smtClean="0"/>
              <a:t>chatMessage</a:t>
            </a:r>
            <a:endParaRPr lang="pl-PL" sz="2000" dirty="0" smtClean="0"/>
          </a:p>
          <a:p>
            <a:pPr lvl="1"/>
            <a:r>
              <a:rPr lang="pl-PL" sz="2000" dirty="0" smtClean="0"/>
              <a:t>10 -&gt; Pobieranie wartości z </a:t>
            </a:r>
            <a:r>
              <a:rPr lang="pl-PL" sz="2000" dirty="0" err="1" smtClean="0"/>
              <a:t>input</a:t>
            </a:r>
            <a:r>
              <a:rPr lang="pl-PL" sz="2000" dirty="0" smtClean="0"/>
              <a:t>-u do zmiennej.</a:t>
            </a:r>
          </a:p>
          <a:p>
            <a:pPr lvl="1"/>
            <a:r>
              <a:rPr lang="pl-PL" sz="2000" dirty="0" smtClean="0"/>
              <a:t>11-14 -&gt; Update bazy</a:t>
            </a:r>
          </a:p>
          <a:p>
            <a:pPr lvl="1"/>
            <a:r>
              <a:rPr lang="pl-PL" sz="2000" dirty="0" smtClean="0"/>
              <a:t>15 -&gt; Czyszczenie </a:t>
            </a:r>
            <a:r>
              <a:rPr lang="pl-PL" sz="2000" dirty="0" err="1" smtClean="0"/>
              <a:t>inputu</a:t>
            </a:r>
            <a:r>
              <a:rPr lang="pl-PL" sz="2000" dirty="0" smtClean="0"/>
              <a:t> z wiadomością (naturalne zachowanie).</a:t>
            </a:r>
          </a:p>
          <a:p>
            <a:pPr lvl="1"/>
            <a:r>
              <a:rPr lang="pl-PL" sz="2000" dirty="0" smtClean="0"/>
              <a:t>16 -&gt; Jak w komentarzu </a:t>
            </a:r>
            <a:r>
              <a:rPr lang="pl-PL" sz="2000" dirty="0" smtClean="0">
                <a:sym typeface="Wingdings" panose="05000000000000000000" pitchFamily="2" charset="2"/>
              </a:rPr>
              <a:t> Przeglądarki domyślnie po </a:t>
            </a:r>
            <a:r>
              <a:rPr lang="pl-PL" sz="2000" dirty="0" err="1" smtClean="0">
                <a:sym typeface="Wingdings" panose="05000000000000000000" pitchFamily="2" charset="2"/>
              </a:rPr>
              <a:t>submit</a:t>
            </a:r>
            <a:r>
              <a:rPr lang="pl-PL" sz="2000" dirty="0" smtClean="0">
                <a:sym typeface="Wingdings" panose="05000000000000000000" pitchFamily="2" charset="2"/>
              </a:rPr>
              <a:t> wykonują </a:t>
            </a:r>
            <a:r>
              <a:rPr lang="pl-PL" sz="2000" dirty="0" err="1" smtClean="0">
                <a:sym typeface="Wingdings" panose="05000000000000000000" pitchFamily="2" charset="2"/>
              </a:rPr>
              <a:t>refresh</a:t>
            </a:r>
            <a:r>
              <a:rPr lang="pl-PL" sz="2000" dirty="0" smtClean="0">
                <a:sym typeface="Wingdings" panose="05000000000000000000" pitchFamily="2" charset="2"/>
              </a:rPr>
              <a:t> strony – my mamy live-</a:t>
            </a:r>
            <a:r>
              <a:rPr lang="pl-PL" sz="2000" dirty="0" err="1" smtClean="0">
                <a:sym typeface="Wingdings" panose="05000000000000000000" pitchFamily="2" charset="2"/>
              </a:rPr>
              <a:t>update</a:t>
            </a:r>
            <a:r>
              <a:rPr lang="pl-PL" sz="2000" dirty="0" smtClean="0">
                <a:sym typeface="Wingdings" panose="05000000000000000000" pitchFamily="2" charset="2"/>
              </a:rPr>
              <a:t>.</a:t>
            </a:r>
            <a:endParaRPr lang="pl-PL" sz="2000" dirty="0" smtClean="0"/>
          </a:p>
          <a:p>
            <a:endParaRPr lang="pl-PL" sz="1600" dirty="0" smtClean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B10B1-CFAE-4B3D-B1DA-4BA7CB88E0D3}" type="slidenum">
              <a:rPr lang="en-US" smtClean="0"/>
              <a:pPr/>
              <a:t>17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676400"/>
            <a:ext cx="4133850" cy="2266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953909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smtClean="0"/>
              <a:t>Prosta aplikacja chat Część 2 - Przystanek</a:t>
            </a:r>
            <a:endParaRPr lang="pl-PL" dirty="0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152400" y="914400"/>
            <a:ext cx="8839200" cy="5486400"/>
          </a:xfrm>
        </p:spPr>
        <p:txBody>
          <a:bodyPr>
            <a:normAutofit/>
          </a:bodyPr>
          <a:lstStyle/>
          <a:p>
            <a:r>
              <a:rPr lang="pl-PL" sz="2400" dirty="0" smtClean="0"/>
              <a:t>Czego się nauczyliśmy?</a:t>
            </a:r>
          </a:p>
          <a:p>
            <a:pPr lvl="1"/>
            <a:r>
              <a:rPr lang="pl-PL" sz="2000" dirty="0" smtClean="0"/>
              <a:t>Jak stworzyć kolekcję opartą o </a:t>
            </a:r>
            <a:r>
              <a:rPr lang="pl-PL" sz="2000" dirty="0" err="1" smtClean="0"/>
              <a:t>MongoDB</a:t>
            </a:r>
            <a:endParaRPr lang="pl-PL" sz="2000" dirty="0" smtClean="0"/>
          </a:p>
          <a:p>
            <a:pPr lvl="1"/>
            <a:r>
              <a:rPr lang="pl-PL" sz="2000" dirty="0" smtClean="0"/>
              <a:t>Jak dodać do kolekcji nowy „rekord”</a:t>
            </a:r>
          </a:p>
          <a:p>
            <a:pPr lvl="1"/>
            <a:r>
              <a:rPr lang="pl-PL" sz="2000" dirty="0" smtClean="0"/>
              <a:t>Jak połączyć się do bazy używając konsoli i wykonać w niej proste operacje.</a:t>
            </a:r>
          </a:p>
          <a:p>
            <a:pPr lvl="1"/>
            <a:r>
              <a:rPr lang="pl-PL" sz="2000" dirty="0" smtClean="0"/>
              <a:t>Stworzyliśmy handler, poradziliśmy sobie z </a:t>
            </a:r>
            <a:r>
              <a:rPr lang="pl-PL" sz="2000" dirty="0" err="1" smtClean="0"/>
              <a:t>Submitem</a:t>
            </a:r>
            <a:r>
              <a:rPr lang="pl-PL" sz="2000" dirty="0" smtClean="0"/>
              <a:t>, odczytaliśmy wartość przesłaną przez </a:t>
            </a:r>
            <a:r>
              <a:rPr lang="pl-PL" sz="2000" dirty="0" err="1" smtClean="0"/>
              <a:t>event</a:t>
            </a:r>
            <a:r>
              <a:rPr lang="pl-PL" sz="2000" dirty="0" smtClean="0"/>
              <a:t> do naszego handlera.</a:t>
            </a:r>
            <a:r>
              <a:rPr lang="pl-PL" sz="2400" dirty="0" smtClean="0"/>
              <a:t/>
            </a:r>
            <a:br>
              <a:rPr lang="pl-PL" sz="2400" dirty="0" smtClean="0"/>
            </a:br>
            <a:endParaRPr lang="pl-PL" sz="2400" dirty="0" smtClean="0"/>
          </a:p>
          <a:p>
            <a:endParaRPr lang="pl-PL" sz="2400" dirty="0"/>
          </a:p>
          <a:p>
            <a:endParaRPr lang="pl-PL" sz="2400" dirty="0" smtClean="0"/>
          </a:p>
          <a:p>
            <a:endParaRPr lang="pl-PL" sz="2400" dirty="0" smtClean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B10B1-CFAE-4B3D-B1DA-4BA7CB88E0D3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77781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smtClean="0"/>
              <a:t>Prosta aplikacja chat Część 3</a:t>
            </a:r>
            <a:endParaRPr lang="pl-PL" dirty="0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152400" y="914400"/>
            <a:ext cx="8839200" cy="5486400"/>
          </a:xfrm>
        </p:spPr>
        <p:txBody>
          <a:bodyPr>
            <a:normAutofit/>
          </a:bodyPr>
          <a:lstStyle/>
          <a:p>
            <a:r>
              <a:rPr lang="pl-PL" sz="2400" dirty="0" smtClean="0"/>
              <a:t>Login system dla naszej aplikacji (User nam brakuje</a:t>
            </a:r>
            <a:r>
              <a:rPr lang="pl-PL" sz="2400" dirty="0" smtClean="0">
                <a:sym typeface="Wingdings" panose="05000000000000000000" pitchFamily="2" charset="2"/>
              </a:rPr>
              <a:t>)</a:t>
            </a:r>
          </a:p>
          <a:p>
            <a:pPr lvl="1"/>
            <a:r>
              <a:rPr lang="pl-PL" sz="2000" dirty="0" smtClean="0">
                <a:sym typeface="Wingdings" panose="05000000000000000000" pitchFamily="2" charset="2"/>
              </a:rPr>
              <a:t>Przechodzimy do konsoli, zainstalujemy nowe „</a:t>
            </a:r>
            <a:r>
              <a:rPr lang="pl-PL" sz="2000" dirty="0" err="1" smtClean="0">
                <a:sym typeface="Wingdings" panose="05000000000000000000" pitchFamily="2" charset="2"/>
              </a:rPr>
              <a:t>package</a:t>
            </a:r>
            <a:r>
              <a:rPr lang="pl-PL" sz="2000" dirty="0" smtClean="0">
                <a:sym typeface="Wingdings" panose="05000000000000000000" pitchFamily="2" charset="2"/>
              </a:rPr>
              <a:t>”.</a:t>
            </a:r>
          </a:p>
          <a:p>
            <a:pPr lvl="1"/>
            <a:r>
              <a:rPr lang="pl-PL" sz="2000" dirty="0" smtClean="0">
                <a:sym typeface="Wingdings" panose="05000000000000000000" pitchFamily="2" charset="2"/>
              </a:rPr>
              <a:t>Odpalamy: </a:t>
            </a:r>
            <a:r>
              <a:rPr lang="pl-PL" sz="2000" dirty="0" smtClean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anose="05000000000000000000" pitchFamily="2" charset="2"/>
              </a:rPr>
              <a:t>meteor </a:t>
            </a:r>
            <a:r>
              <a:rPr lang="pl-PL" sz="2000" dirty="0" err="1" smtClean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anose="05000000000000000000" pitchFamily="2" charset="2"/>
              </a:rPr>
              <a:t>add</a:t>
            </a:r>
            <a:r>
              <a:rPr lang="pl-PL" sz="2000" dirty="0" smtClean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anose="05000000000000000000" pitchFamily="2" charset="2"/>
              </a:rPr>
              <a:t> </a:t>
            </a:r>
            <a:r>
              <a:rPr lang="pl-PL" sz="2000" dirty="0" err="1" smtClean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anose="05000000000000000000" pitchFamily="2" charset="2"/>
              </a:rPr>
              <a:t>accounts-password</a:t>
            </a:r>
            <a:r>
              <a:rPr lang="pl-PL" sz="2000" dirty="0" smtClean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anose="05000000000000000000" pitchFamily="2" charset="2"/>
              </a:rPr>
              <a:t> </a:t>
            </a:r>
            <a:r>
              <a:rPr lang="pl-PL" sz="2000" dirty="0" err="1" smtClean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anose="05000000000000000000" pitchFamily="2" charset="2"/>
              </a:rPr>
              <a:t>accounts-ui</a:t>
            </a:r>
            <a:endParaRPr lang="pl-PL" sz="2000" dirty="0">
              <a:solidFill>
                <a:schemeClr val="tx2"/>
              </a:solidFill>
              <a:sym typeface="Wingdings" panose="05000000000000000000" pitchFamily="2" charset="2"/>
            </a:endParaRPr>
          </a:p>
          <a:p>
            <a:pPr lvl="1"/>
            <a:r>
              <a:rPr lang="pl-PL" sz="2000" dirty="0" smtClean="0">
                <a:sym typeface="Wingdings" panose="05000000000000000000" pitchFamily="2" charset="2"/>
              </a:rPr>
              <a:t>Pierwsza paczka doda możliwość do zalogowania się do aplikacji przy użyciu hasła. </a:t>
            </a:r>
          </a:p>
          <a:p>
            <a:pPr lvl="1"/>
            <a:r>
              <a:rPr lang="pl-PL" sz="2000" dirty="0" smtClean="0">
                <a:sym typeface="Wingdings" panose="05000000000000000000" pitchFamily="2" charset="2"/>
              </a:rPr>
              <a:t>Druga paczka zapewnia podstawowy interfejs do logowania.</a:t>
            </a:r>
          </a:p>
          <a:p>
            <a:pPr lvl="1"/>
            <a:r>
              <a:rPr lang="pl-PL" sz="2000" dirty="0" smtClean="0">
                <a:sym typeface="Wingdings" panose="05000000000000000000" pitchFamily="2" charset="2"/>
              </a:rPr>
              <a:t>W naszym </a:t>
            </a:r>
            <a:r>
              <a:rPr lang="pl-PL" sz="2000" dirty="0" err="1" smtClean="0">
                <a:sym typeface="Wingdings" panose="05000000000000000000" pitchFamily="2" charset="2"/>
              </a:rPr>
              <a:t>html</a:t>
            </a:r>
            <a:r>
              <a:rPr lang="pl-PL" sz="2000" dirty="0" smtClean="0">
                <a:sym typeface="Wingdings" panose="05000000000000000000" pitchFamily="2" charset="2"/>
              </a:rPr>
              <a:t> po </a:t>
            </a:r>
            <a:r>
              <a:rPr lang="pl-PL" sz="2000" dirty="0" err="1" smtClean="0">
                <a:sym typeface="Wingdings" panose="05000000000000000000" pitchFamily="2" charset="2"/>
              </a:rPr>
              <a:t>tagu</a:t>
            </a:r>
            <a:r>
              <a:rPr lang="pl-PL" sz="2000" dirty="0" smtClean="0">
                <a:sym typeface="Wingdings" panose="05000000000000000000" pitchFamily="2" charset="2"/>
              </a:rPr>
              <a:t> </a:t>
            </a:r>
            <a:r>
              <a:rPr lang="pl-PL" sz="2000" dirty="0" smtClean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anose="05000000000000000000" pitchFamily="2" charset="2"/>
              </a:rPr>
              <a:t>&lt;</a:t>
            </a:r>
            <a:r>
              <a:rPr lang="pl-PL" sz="2000" dirty="0" err="1" smtClean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anose="05000000000000000000" pitchFamily="2" charset="2"/>
              </a:rPr>
              <a:t>header</a:t>
            </a:r>
            <a:r>
              <a:rPr lang="pl-PL" sz="2000" dirty="0" smtClean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anose="05000000000000000000" pitchFamily="2" charset="2"/>
              </a:rPr>
              <a:t>&gt; </a:t>
            </a:r>
            <a:r>
              <a:rPr lang="pl-PL" sz="2000" dirty="0" smtClean="0">
                <a:sym typeface="Wingdings" panose="05000000000000000000" pitchFamily="2" charset="2"/>
              </a:rPr>
              <a:t>dodajmy gotowy </a:t>
            </a:r>
            <a:r>
              <a:rPr lang="pl-PL" sz="2000" dirty="0" err="1" smtClean="0">
                <a:sym typeface="Wingdings" panose="05000000000000000000" pitchFamily="2" charset="2"/>
              </a:rPr>
              <a:t>template</a:t>
            </a:r>
            <a:r>
              <a:rPr lang="pl-PL" sz="2000" dirty="0" smtClean="0">
                <a:sym typeface="Wingdings" panose="05000000000000000000" pitchFamily="2" charset="2"/>
              </a:rPr>
              <a:t>, który pochodzi z </a:t>
            </a:r>
            <a:r>
              <a:rPr lang="pl-PL" sz="2000" dirty="0">
                <a:sym typeface="Wingdings" panose="05000000000000000000" pitchFamily="2" charset="2"/>
              </a:rPr>
              <a:t>zainstalowanych paczek </a:t>
            </a:r>
            <a:r>
              <a:rPr lang="pl-PL" sz="20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anose="05000000000000000000" pitchFamily="2" charset="2"/>
              </a:rPr>
              <a:t>{{&gt; </a:t>
            </a:r>
            <a:r>
              <a:rPr lang="pl-PL" sz="20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anose="05000000000000000000" pitchFamily="2" charset="2"/>
              </a:rPr>
              <a:t>loginButtons</a:t>
            </a:r>
            <a:r>
              <a:rPr lang="pl-PL" sz="2000" dirty="0" smtClean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anose="05000000000000000000" pitchFamily="2" charset="2"/>
              </a:rPr>
              <a:t>}}</a:t>
            </a:r>
          </a:p>
          <a:p>
            <a:pPr lvl="1"/>
            <a:r>
              <a:rPr lang="pl-PL" sz="2000" dirty="0" smtClean="0">
                <a:sym typeface="Wingdings" panose="05000000000000000000" pitchFamily="2" charset="2"/>
              </a:rPr>
              <a:t>Przechodzimy do przeglądarki i patrzymy co udało się zdziałać…</a:t>
            </a:r>
          </a:p>
          <a:p>
            <a:r>
              <a:rPr lang="pl-PL" sz="2400" dirty="0" smtClean="0">
                <a:sym typeface="Wingdings" panose="05000000000000000000" pitchFamily="2" charset="2"/>
              </a:rPr>
              <a:t>Zmiana maila na </a:t>
            </a:r>
            <a:r>
              <a:rPr lang="pl-PL" sz="2400" dirty="0" err="1" smtClean="0">
                <a:sym typeface="Wingdings" panose="05000000000000000000" pitchFamily="2" charset="2"/>
              </a:rPr>
              <a:t>username</a:t>
            </a:r>
            <a:endParaRPr lang="pl-PL" sz="2400" dirty="0" smtClean="0">
              <a:sym typeface="Wingdings" panose="05000000000000000000" pitchFamily="2" charset="2"/>
            </a:endParaRPr>
          </a:p>
          <a:p>
            <a:pPr lvl="1"/>
            <a:r>
              <a:rPr lang="pl-PL" sz="2000" dirty="0" smtClean="0">
                <a:sym typeface="Wingdings" panose="05000000000000000000" pitchFamily="2" charset="2"/>
              </a:rPr>
              <a:t>Nie chcemy aby nasza aplikacja pokazywała maila. Zmieńmy to!</a:t>
            </a:r>
          </a:p>
          <a:p>
            <a:pPr lvl="1"/>
            <a:r>
              <a:rPr lang="pl-PL" sz="2000" dirty="0" smtClean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anose="05000000000000000000" pitchFamily="2" charset="2"/>
              </a:rPr>
              <a:t>Przejdźmy do pliku </a:t>
            </a:r>
            <a:r>
              <a:rPr lang="pl-PL" sz="2000" dirty="0" err="1" smtClean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anose="05000000000000000000" pitchFamily="2" charset="2"/>
              </a:rPr>
              <a:t>js</a:t>
            </a:r>
            <a:r>
              <a:rPr lang="pl-PL" sz="2000" dirty="0" smtClean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anose="05000000000000000000" pitchFamily="2" charset="2"/>
              </a:rPr>
              <a:t>, i na samym końcu bloku </a:t>
            </a:r>
            <a:r>
              <a:rPr lang="pl-PL" sz="2000" dirty="0" err="1" smtClean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anose="05000000000000000000" pitchFamily="2" charset="2"/>
              </a:rPr>
              <a:t>if</a:t>
            </a:r>
            <a:r>
              <a:rPr lang="pl-PL" sz="2000" dirty="0" smtClean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anose="05000000000000000000" pitchFamily="2" charset="2"/>
              </a:rPr>
              <a:t>(</a:t>
            </a:r>
            <a:r>
              <a:rPr lang="pl-PL" sz="2000" dirty="0" err="1" smtClean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anose="05000000000000000000" pitchFamily="2" charset="2"/>
              </a:rPr>
              <a:t>meteor.isClient</a:t>
            </a:r>
            <a:r>
              <a:rPr lang="pl-PL" sz="2000" dirty="0" smtClean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anose="05000000000000000000" pitchFamily="2" charset="2"/>
              </a:rPr>
              <a:t>) dodajmy: </a:t>
            </a:r>
            <a:br>
              <a:rPr lang="pl-PL" sz="2000" dirty="0" smtClean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anose="05000000000000000000" pitchFamily="2" charset="2"/>
              </a:rPr>
            </a:br>
            <a:endParaRPr lang="pl-PL" sz="2000" dirty="0">
              <a:solidFill>
                <a:schemeClr val="tx2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pl-PL" sz="2400" dirty="0" smtClean="0"/>
          </a:p>
          <a:p>
            <a:endParaRPr lang="pl-PL" sz="2400" dirty="0" smtClean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B10B1-CFAE-4B3D-B1DA-4BA7CB88E0D3}" type="slidenum">
              <a:rPr lang="en-US" smtClean="0"/>
              <a:pPr/>
              <a:t>19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5675168"/>
            <a:ext cx="3048000" cy="74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106627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smtClean="0"/>
              <a:t>Prosta aplikacja chat Część 3</a:t>
            </a:r>
            <a:endParaRPr lang="pl-PL" dirty="0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152400" y="914400"/>
            <a:ext cx="8839200" cy="5486400"/>
          </a:xfrm>
        </p:spPr>
        <p:txBody>
          <a:bodyPr>
            <a:normAutofit/>
          </a:bodyPr>
          <a:lstStyle/>
          <a:p>
            <a:r>
              <a:rPr lang="pl-PL" sz="2400" dirty="0" smtClean="0"/>
              <a:t>Czas na zmiany – możliwość uczestnictwa w czacie tylko dla zalogowanych osób.</a:t>
            </a:r>
          </a:p>
          <a:p>
            <a:pPr lvl="1"/>
            <a:r>
              <a:rPr lang="pl-PL" sz="2000" dirty="0" smtClean="0"/>
              <a:t>Wbudowany </a:t>
            </a:r>
            <a:r>
              <a:rPr lang="pl-PL" sz="2000" dirty="0" err="1" smtClean="0"/>
              <a:t>helper</a:t>
            </a:r>
            <a:r>
              <a:rPr lang="pl-PL" sz="2000" dirty="0" smtClean="0"/>
              <a:t> </a:t>
            </a:r>
            <a:r>
              <a:rPr lang="pl-PL" sz="2000" dirty="0" err="1" smtClean="0"/>
              <a:t>current</a:t>
            </a:r>
            <a:r>
              <a:rPr lang="pl-PL" sz="2000" dirty="0" smtClean="0"/>
              <a:t> </a:t>
            </a:r>
            <a:r>
              <a:rPr lang="pl-PL" sz="2000" dirty="0" err="1" smtClean="0"/>
              <a:t>user</a:t>
            </a:r>
            <a:r>
              <a:rPr lang="pl-PL" sz="2000" dirty="0" smtClean="0"/>
              <a:t> </a:t>
            </a:r>
            <a:r>
              <a:rPr lang="pl-PL" sz="2000" dirty="0" err="1" smtClean="0"/>
              <a:t>umożliwa</a:t>
            </a:r>
            <a:r>
              <a:rPr lang="pl-PL" sz="2000" dirty="0" smtClean="0"/>
              <a:t> nam sprawdzanie „out of the </a:t>
            </a:r>
            <a:r>
              <a:rPr lang="pl-PL" sz="2000" dirty="0" err="1" smtClean="0"/>
              <a:t>box</a:t>
            </a:r>
            <a:r>
              <a:rPr lang="pl-PL" sz="2000" dirty="0" smtClean="0"/>
              <a:t>” czy jesteśmy zalogowani.</a:t>
            </a:r>
          </a:p>
          <a:p>
            <a:pPr lvl="1"/>
            <a:r>
              <a:rPr lang="pl-PL" sz="2000" dirty="0" smtClean="0"/>
              <a:t>Jak myślisz, czy paczki do logowania korzystają z </a:t>
            </a:r>
            <a:r>
              <a:rPr lang="pl-PL" sz="2000" dirty="0" err="1" smtClean="0"/>
              <a:t>mongoDB</a:t>
            </a:r>
            <a:r>
              <a:rPr lang="pl-PL" sz="2000" dirty="0" smtClean="0"/>
              <a:t> czy z zmiennych definiowanych dla sesji?</a:t>
            </a:r>
          </a:p>
          <a:p>
            <a:pPr lvl="1"/>
            <a:r>
              <a:rPr lang="pl-PL" sz="2000" dirty="0" smtClean="0"/>
              <a:t>Zmieniamy nasz kod w </a:t>
            </a:r>
            <a:r>
              <a:rPr lang="pl-PL" sz="2000" dirty="0" err="1" smtClean="0"/>
              <a:t>tagu</a:t>
            </a:r>
            <a:r>
              <a:rPr lang="pl-PL" sz="2000" dirty="0" smtClean="0"/>
              <a:t> &lt;</a:t>
            </a:r>
            <a:r>
              <a:rPr lang="pl-PL" sz="2000" dirty="0" err="1" smtClean="0"/>
              <a:t>header</a:t>
            </a:r>
            <a:r>
              <a:rPr lang="pl-PL" sz="2000" dirty="0" smtClean="0"/>
              <a:t>&gt; tak;</a:t>
            </a:r>
          </a:p>
          <a:p>
            <a:pPr lvl="1"/>
            <a:endParaRPr lang="pl-PL" sz="2000" dirty="0"/>
          </a:p>
          <a:p>
            <a:pPr lvl="1"/>
            <a:endParaRPr lang="pl-PL" sz="2000" dirty="0" smtClean="0"/>
          </a:p>
          <a:p>
            <a:pPr lvl="1"/>
            <a:endParaRPr lang="pl-PL" sz="2000" dirty="0"/>
          </a:p>
          <a:p>
            <a:pPr lvl="1"/>
            <a:endParaRPr lang="pl-PL" sz="2000" dirty="0" smtClean="0"/>
          </a:p>
          <a:p>
            <a:pPr lvl="1"/>
            <a:endParaRPr lang="pl-PL" sz="2000" dirty="0"/>
          </a:p>
          <a:p>
            <a:pPr lvl="1"/>
            <a:endParaRPr lang="pl-PL" sz="2000" dirty="0" smtClean="0"/>
          </a:p>
          <a:p>
            <a:pPr lvl="1"/>
            <a:r>
              <a:rPr lang="pl-PL" sz="2000" dirty="0" smtClean="0"/>
              <a:t>Zmień teraz kod naszego jedynego handlera tak, aby zamiast User1 wypisywał do </a:t>
            </a:r>
            <a:r>
              <a:rPr lang="pl-PL" sz="2000" smtClean="0"/>
              <a:t>bazy nazwę zalogowanego </a:t>
            </a:r>
            <a:r>
              <a:rPr lang="pl-PL" sz="2000" dirty="0" err="1" smtClean="0"/>
              <a:t>usera</a:t>
            </a:r>
            <a:r>
              <a:rPr lang="pl-PL" sz="2000" dirty="0" smtClean="0"/>
              <a:t>.</a:t>
            </a:r>
          </a:p>
          <a:p>
            <a:pPr lvl="1"/>
            <a:endParaRPr lang="pl-PL" sz="2400" dirty="0" smtClean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B10B1-CFAE-4B3D-B1DA-4BA7CB88E0D3}" type="slidenum">
              <a:rPr lang="en-US" smtClean="0"/>
              <a:pPr/>
              <a:t>20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505200"/>
            <a:ext cx="5638800" cy="198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694645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smtClean="0"/>
              <a:t>Prosta aplikacja chat Część 3</a:t>
            </a:r>
            <a:endParaRPr lang="pl-PL" dirty="0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152400" y="914400"/>
            <a:ext cx="8839200" cy="5486400"/>
          </a:xfrm>
        </p:spPr>
        <p:txBody>
          <a:bodyPr>
            <a:normAutofit/>
          </a:bodyPr>
          <a:lstStyle/>
          <a:p>
            <a:r>
              <a:rPr lang="pl-PL" sz="2400" dirty="0" smtClean="0"/>
              <a:t>Zadanko! Dodaj teraz datę do wiadomości czatu (nie musi się wyświetlać), będziemy jej używać do sortowania, tak aby najnowsze wiadomości były na górze. Nazwij nowe pole „</a:t>
            </a:r>
            <a:r>
              <a:rPr lang="pl-PL" sz="2400" dirty="0" err="1" smtClean="0"/>
              <a:t>CreatedAt</a:t>
            </a:r>
            <a:r>
              <a:rPr lang="pl-PL" sz="2400" dirty="0" smtClean="0"/>
              <a:t>” aby uniknąć rozjazdu z kodem i zajrzyj do dokumentacji </a:t>
            </a:r>
            <a:r>
              <a:rPr lang="pl-PL" sz="2400" dirty="0" err="1" smtClean="0"/>
              <a:t>MongoDB</a:t>
            </a:r>
            <a:r>
              <a:rPr lang="pl-PL" sz="2400" dirty="0" smtClean="0"/>
              <a:t> jak użyć „.</a:t>
            </a:r>
            <a:r>
              <a:rPr lang="pl-PL" sz="2400" dirty="0" err="1" smtClean="0"/>
              <a:t>find</a:t>
            </a:r>
            <a:r>
              <a:rPr lang="pl-PL" sz="2400" dirty="0" smtClean="0"/>
              <a:t>()” z „sort” (taki order by).</a:t>
            </a:r>
          </a:p>
          <a:p>
            <a:endParaRPr lang="pl-PL" sz="2400" dirty="0"/>
          </a:p>
          <a:p>
            <a:r>
              <a:rPr lang="pl-PL" sz="2400" dirty="0" smtClean="0"/>
              <a:t>Rozwiązanie na następnym slajdzie </a:t>
            </a:r>
            <a:r>
              <a:rPr lang="pl-PL" sz="2400" dirty="0" smtClean="0">
                <a:sym typeface="Wingdings" panose="05000000000000000000" pitchFamily="2" charset="2"/>
              </a:rPr>
              <a:t></a:t>
            </a:r>
            <a:endParaRPr lang="pl-PL" sz="2000" dirty="0" smtClean="0"/>
          </a:p>
          <a:p>
            <a:pPr lvl="1"/>
            <a:endParaRPr lang="pl-PL" sz="2400" dirty="0" smtClean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B10B1-CFAE-4B3D-B1DA-4BA7CB88E0D3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56094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smtClean="0"/>
              <a:t>Prosta aplikacja chat Część 3</a:t>
            </a:r>
            <a:endParaRPr lang="pl-PL" dirty="0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152400" y="914400"/>
            <a:ext cx="8839200" cy="5486400"/>
          </a:xfrm>
        </p:spPr>
        <p:txBody>
          <a:bodyPr>
            <a:normAutofit lnSpcReduction="10000"/>
          </a:bodyPr>
          <a:lstStyle/>
          <a:p>
            <a:r>
              <a:rPr lang="pl-PL" sz="2400" dirty="0" smtClean="0"/>
              <a:t>Nie dałeś rady? Nie żartuj… wystarczy:</a:t>
            </a:r>
            <a:br>
              <a:rPr lang="pl-PL" sz="2400" dirty="0" smtClean="0"/>
            </a:br>
            <a:r>
              <a:rPr lang="pl-PL" sz="2400" dirty="0" smtClean="0"/>
              <a:t/>
            </a:r>
            <a:br>
              <a:rPr lang="pl-PL" sz="2400" dirty="0" smtClean="0"/>
            </a:br>
            <a:r>
              <a:rPr lang="pl-PL" sz="2400" dirty="0" smtClean="0"/>
              <a:t/>
            </a:r>
            <a:br>
              <a:rPr lang="pl-PL" sz="2400" dirty="0" smtClean="0"/>
            </a:br>
            <a:r>
              <a:rPr lang="pl-PL" sz="2400" dirty="0" smtClean="0"/>
              <a:t/>
            </a:r>
            <a:br>
              <a:rPr lang="pl-PL" sz="2400" dirty="0" smtClean="0"/>
            </a:br>
            <a:r>
              <a:rPr lang="pl-PL" sz="2400" dirty="0" smtClean="0"/>
              <a:t/>
            </a:r>
            <a:br>
              <a:rPr lang="pl-PL" sz="2400" dirty="0" smtClean="0"/>
            </a:br>
            <a:r>
              <a:rPr lang="pl-PL" sz="2400" dirty="0" smtClean="0"/>
              <a:t>A teraz sortowanie wiadomości; </a:t>
            </a:r>
          </a:p>
          <a:p>
            <a:endParaRPr lang="pl-PL" sz="2400" dirty="0"/>
          </a:p>
          <a:p>
            <a:endParaRPr lang="pl-PL" sz="2400" dirty="0" smtClean="0"/>
          </a:p>
          <a:p>
            <a:endParaRPr lang="pl-PL" sz="2400" dirty="0"/>
          </a:p>
          <a:p>
            <a:endParaRPr lang="pl-PL" sz="2400" dirty="0" smtClean="0"/>
          </a:p>
          <a:p>
            <a:r>
              <a:rPr lang="pl-PL" sz="2400" dirty="0" smtClean="0"/>
              <a:t>Uwaga! Jest to rozwiązanie prawie działające czyli błędne </a:t>
            </a:r>
            <a:r>
              <a:rPr lang="pl-PL" sz="2400" dirty="0" smtClean="0">
                <a:sym typeface="Wingdings" panose="05000000000000000000" pitchFamily="2" charset="2"/>
              </a:rPr>
              <a:t> Nie możemy pobierać czasu po stronie klienckiej – co jeśli mój czas systemowy późni się 1 minutę względem Twojego?</a:t>
            </a:r>
            <a:endParaRPr lang="pl-PL" sz="2400" dirty="0" smtClean="0"/>
          </a:p>
          <a:p>
            <a:pPr marL="0" indent="0">
              <a:buNone/>
            </a:pPr>
            <a:endParaRPr lang="pl-PL" sz="2000" dirty="0" smtClean="0"/>
          </a:p>
          <a:p>
            <a:pPr lvl="1"/>
            <a:endParaRPr lang="pl-PL" sz="2400" dirty="0" smtClean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B10B1-CFAE-4B3D-B1DA-4BA7CB88E0D3}" type="slidenum">
              <a:rPr lang="en-US" smtClean="0"/>
              <a:pPr/>
              <a:t>22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295400"/>
            <a:ext cx="3048000" cy="127635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2957512"/>
            <a:ext cx="3086100" cy="1628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584237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smtClean="0"/>
              <a:t>Prosta aplikacja chat Część 3</a:t>
            </a:r>
            <a:endParaRPr lang="pl-PL" dirty="0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152400" y="914400"/>
            <a:ext cx="8839200" cy="5486400"/>
          </a:xfrm>
        </p:spPr>
        <p:txBody>
          <a:bodyPr>
            <a:normAutofit fontScale="92500" lnSpcReduction="10000"/>
          </a:bodyPr>
          <a:lstStyle/>
          <a:p>
            <a:r>
              <a:rPr lang="pl-PL" sz="2400" dirty="0" smtClean="0"/>
              <a:t>Wtedy moje wiadomości będą się „wbijać” pomiędzy Twoje. Tego nie chcemy. Pamiętaj aby zawsze i wszędzie datę pobierać z serwera! Jedziemy;</a:t>
            </a:r>
          </a:p>
          <a:p>
            <a:pPr lvl="1"/>
            <a:r>
              <a:rPr lang="pl-PL" sz="2000" dirty="0" smtClean="0"/>
              <a:t>Pamiętacie jeszcze o naszym </a:t>
            </a:r>
            <a:r>
              <a:rPr lang="pl-PL" sz="2000" dirty="0" err="1" smtClean="0"/>
              <a:t>meteor.isServer</a:t>
            </a:r>
            <a:r>
              <a:rPr lang="pl-PL" sz="2000" dirty="0" smtClean="0"/>
              <a:t> ? Dodajmy tam funkcje która właśnie pobierze datę:</a:t>
            </a:r>
          </a:p>
          <a:p>
            <a:pPr lvl="1"/>
            <a:endParaRPr lang="pl-PL" sz="2000" dirty="0"/>
          </a:p>
          <a:p>
            <a:pPr lvl="1"/>
            <a:endParaRPr lang="pl-PL" sz="2000" dirty="0" smtClean="0"/>
          </a:p>
          <a:p>
            <a:pPr marL="457200" lvl="1" indent="0">
              <a:buNone/>
            </a:pPr>
            <a:endParaRPr lang="pl-PL" sz="2000" dirty="0" smtClean="0"/>
          </a:p>
          <a:p>
            <a:pPr marL="457200" lvl="1" indent="0">
              <a:buNone/>
            </a:pPr>
            <a:endParaRPr lang="pl-PL" sz="2000" dirty="0"/>
          </a:p>
          <a:p>
            <a:pPr marL="457200" lvl="1" indent="0">
              <a:buNone/>
            </a:pPr>
            <a:endParaRPr lang="pl-PL" sz="2000" dirty="0" smtClean="0"/>
          </a:p>
          <a:p>
            <a:pPr marL="457200" lvl="1" indent="0">
              <a:buNone/>
            </a:pPr>
            <a:endParaRPr lang="pl-PL" sz="2000" dirty="0"/>
          </a:p>
          <a:p>
            <a:pPr marL="457200" lvl="1" indent="0">
              <a:buNone/>
            </a:pPr>
            <a:r>
              <a:rPr lang="pl-PL" sz="2000" dirty="0" smtClean="0"/>
              <a:t/>
            </a:r>
            <a:br>
              <a:rPr lang="pl-PL" sz="2000" dirty="0" smtClean="0"/>
            </a:br>
            <a:r>
              <a:rPr lang="pl-PL" sz="2000" dirty="0" smtClean="0"/>
              <a:t/>
            </a:r>
            <a:br>
              <a:rPr lang="pl-PL" sz="2000" dirty="0" smtClean="0"/>
            </a:br>
            <a:endParaRPr lang="pl-PL" sz="2000" dirty="0" smtClean="0"/>
          </a:p>
          <a:p>
            <a:pPr lvl="1"/>
            <a:r>
              <a:rPr lang="pl-PL" sz="2000" dirty="0" smtClean="0"/>
              <a:t>Tak definiujemy metody które mają działać po stronie serwera. Można powiedzieć że jest to odpowiednik akcji kontrolera w ASP .net (aczkolwiek nie ośmieliłbym się tego nigdzie powtarzać </a:t>
            </a:r>
            <a:r>
              <a:rPr lang="pl-PL" sz="2000" dirty="0" smtClean="0">
                <a:sym typeface="Wingdings" panose="05000000000000000000" pitchFamily="2" charset="2"/>
              </a:rPr>
              <a:t>).</a:t>
            </a:r>
            <a:r>
              <a:rPr lang="pl-PL" sz="2000" dirty="0" smtClean="0"/>
              <a:t/>
            </a:r>
            <a:br>
              <a:rPr lang="pl-PL" sz="2000" dirty="0" smtClean="0"/>
            </a:br>
            <a:endParaRPr lang="pl-PL" sz="1600" dirty="0" smtClean="0"/>
          </a:p>
          <a:p>
            <a:pPr lvl="1"/>
            <a:endParaRPr lang="pl-PL" sz="2400" dirty="0" smtClean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B10B1-CFAE-4B3D-B1DA-4BA7CB88E0D3}" type="slidenum">
              <a:rPr lang="en-US" smtClean="0"/>
              <a:pPr/>
              <a:t>23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2543175"/>
            <a:ext cx="3181350" cy="2457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653008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smtClean="0"/>
              <a:t>Prosta aplikacja chat Część 3</a:t>
            </a:r>
            <a:endParaRPr lang="pl-PL" dirty="0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152400" y="914400"/>
            <a:ext cx="8839200" cy="1023938"/>
          </a:xfrm>
        </p:spPr>
        <p:txBody>
          <a:bodyPr>
            <a:normAutofit lnSpcReduction="10000"/>
          </a:bodyPr>
          <a:lstStyle/>
          <a:p>
            <a:r>
              <a:rPr lang="pl-PL" sz="2400" dirty="0" smtClean="0"/>
              <a:t>Czas wywołać zaimplementowaną metodę po stronie klienta. Całość powinna wyglądać tak;</a:t>
            </a:r>
            <a:r>
              <a:rPr lang="pl-PL" sz="2000" dirty="0" smtClean="0"/>
              <a:t/>
            </a:r>
            <a:br>
              <a:rPr lang="pl-PL" sz="2000" dirty="0" smtClean="0"/>
            </a:br>
            <a:endParaRPr lang="pl-PL" sz="1600" dirty="0" smtClean="0"/>
          </a:p>
          <a:p>
            <a:pPr lvl="1"/>
            <a:endParaRPr lang="pl-PL" sz="2400" dirty="0" smtClean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B10B1-CFAE-4B3D-B1DA-4BA7CB88E0D3}" type="slidenum">
              <a:rPr lang="en-US" smtClean="0"/>
              <a:pPr/>
              <a:t>24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09737"/>
            <a:ext cx="5276850" cy="3895725"/>
          </a:xfrm>
          <a:prstGeom prst="rect">
            <a:avLst/>
          </a:prstGeom>
        </p:spPr>
      </p:pic>
      <p:sp>
        <p:nvSpPr>
          <p:cNvPr id="8" name="Symbol zastępczy zawartości 2"/>
          <p:cNvSpPr txBox="1">
            <a:spLocks/>
          </p:cNvSpPr>
          <p:nvPr/>
        </p:nvSpPr>
        <p:spPr>
          <a:xfrm>
            <a:off x="5276850" y="1706273"/>
            <a:ext cx="3867150" cy="5486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D2121"/>
              </a:buClr>
              <a:buFont typeface="Wingdings" pitchFamily="2" charset="2"/>
              <a:buChar char="§"/>
              <a:defRPr sz="3200" b="1" kern="120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086A9E"/>
              </a:buClr>
              <a:buFont typeface="Wingdings" pitchFamily="2" charset="2"/>
              <a:buChar char="§"/>
              <a:defRPr sz="2800" kern="1200">
                <a:solidFill>
                  <a:schemeClr val="tx1">
                    <a:lumMod val="95000"/>
                    <a:lumOff val="5000"/>
                  </a:schemeClr>
                </a:solidFill>
                <a:latin typeface="Trebuchet MS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086A9E"/>
              </a:buClr>
              <a:buFont typeface="Wingdings" pitchFamily="2" charset="2"/>
              <a:buChar char="§"/>
              <a:defRPr sz="2400" kern="1200">
                <a:solidFill>
                  <a:schemeClr val="tx1">
                    <a:lumMod val="95000"/>
                    <a:lumOff val="5000"/>
                  </a:schemeClr>
                </a:solidFill>
                <a:latin typeface="Trebuchet MS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086A9E"/>
              </a:buClr>
              <a:buFont typeface="Wingdings" pitchFamily="2" charset="2"/>
              <a:buChar char="§"/>
              <a:defRPr sz="2000" kern="1200">
                <a:solidFill>
                  <a:schemeClr val="tx1">
                    <a:lumMod val="95000"/>
                    <a:lumOff val="5000"/>
                  </a:schemeClr>
                </a:solidFill>
                <a:latin typeface="Trebuchet MS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086A9E"/>
              </a:buClr>
              <a:buFont typeface="Wingdings" pitchFamily="2" charset="2"/>
              <a:buChar char="§"/>
              <a:defRPr sz="2000" kern="1200">
                <a:solidFill>
                  <a:schemeClr val="tx1">
                    <a:lumMod val="95000"/>
                    <a:lumOff val="5000"/>
                  </a:schemeClr>
                </a:solidFill>
                <a:latin typeface="Trebuchet MS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lang="pl-PL" sz="2000" dirty="0" smtClean="0"/>
              <a:t>Zauważ że insert do kolekcji </a:t>
            </a:r>
            <a:r>
              <a:rPr lang="pl-PL" sz="2000" dirty="0" err="1" smtClean="0"/>
              <a:t>mongo</a:t>
            </a:r>
            <a:r>
              <a:rPr lang="pl-PL" sz="2000" dirty="0" smtClean="0"/>
              <a:t> jest w środku </a:t>
            </a:r>
            <a:r>
              <a:rPr lang="pl-PL" sz="2000" dirty="0" err="1" smtClean="0"/>
              <a:t>Meteor.call</a:t>
            </a:r>
            <a:r>
              <a:rPr lang="pl-PL" sz="2000" dirty="0" smtClean="0"/>
              <a:t>(… </a:t>
            </a:r>
          </a:p>
          <a:p>
            <a:pPr marL="0" indent="0">
              <a:buFont typeface="Wingdings" pitchFamily="2" charset="2"/>
              <a:buNone/>
            </a:pPr>
            <a:r>
              <a:rPr lang="pl-PL" sz="2000" dirty="0" smtClean="0"/>
              <a:t>Dlaczego?</a:t>
            </a:r>
          </a:p>
          <a:p>
            <a:pPr marL="0" indent="0">
              <a:buFont typeface="Wingdings" pitchFamily="2" charset="2"/>
              <a:buNone/>
            </a:pPr>
            <a:r>
              <a:rPr lang="pl-PL" sz="2000" dirty="0" smtClean="0"/>
              <a:t>..</a:t>
            </a:r>
          </a:p>
          <a:p>
            <a:pPr marL="0" indent="0">
              <a:buFont typeface="Wingdings" pitchFamily="2" charset="2"/>
              <a:buNone/>
            </a:pPr>
            <a:r>
              <a:rPr lang="pl-PL" sz="2000" dirty="0" smtClean="0"/>
              <a:t>Ponieważ tak naprawdę jest to wywołanie </a:t>
            </a:r>
            <a:r>
              <a:rPr lang="pl-PL" sz="2000" dirty="0" err="1" smtClean="0"/>
              <a:t>AJAXa</a:t>
            </a:r>
            <a:r>
              <a:rPr lang="pl-PL" sz="2000" dirty="0" smtClean="0"/>
              <a:t>, które jest asynchroniczne z natury. Doczytaj proszę o AJAX </a:t>
            </a:r>
            <a:r>
              <a:rPr lang="pl-PL" sz="2000" dirty="0" smtClean="0">
                <a:sym typeface="Wingdings" panose="05000000000000000000" pitchFamily="2" charset="2"/>
              </a:rPr>
              <a:t> </a:t>
            </a:r>
            <a:r>
              <a:rPr lang="pl-PL" sz="2000" dirty="0" smtClean="0"/>
              <a:t/>
            </a:r>
            <a:br>
              <a:rPr lang="pl-PL" sz="2000" dirty="0" smtClean="0"/>
            </a:br>
            <a:endParaRPr lang="pl-PL" sz="1600" dirty="0" smtClean="0"/>
          </a:p>
          <a:p>
            <a:pPr lvl="1"/>
            <a:endParaRPr lang="pl-PL" sz="2400" dirty="0" smtClean="0"/>
          </a:p>
        </p:txBody>
      </p:sp>
    </p:spTree>
    <p:extLst>
      <p:ext uri="{BB962C8B-B14F-4D97-AF65-F5344CB8AC3E}">
        <p14:creationId xmlns:p14="http://schemas.microsoft.com/office/powerpoint/2010/main" val="288665889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smtClean="0"/>
              <a:t>Prosta aplikacja chat Część 3</a:t>
            </a:r>
            <a:endParaRPr lang="pl-PL" dirty="0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152400" y="914399"/>
            <a:ext cx="8839200" cy="5851525"/>
          </a:xfrm>
        </p:spPr>
        <p:txBody>
          <a:bodyPr>
            <a:normAutofit fontScale="92500"/>
          </a:bodyPr>
          <a:lstStyle/>
          <a:p>
            <a:r>
              <a:rPr lang="pl-PL" sz="2400" dirty="0" smtClean="0"/>
              <a:t>KONIEC. Ale czemu to tak brzydko wygląda? A </a:t>
            </a:r>
            <a:r>
              <a:rPr lang="pl-PL" sz="2400" dirty="0" err="1" smtClean="0"/>
              <a:t>stylował</a:t>
            </a:r>
            <a:r>
              <a:rPr lang="pl-PL" sz="2400" dirty="0" smtClean="0"/>
              <a:t> to ktoś?</a:t>
            </a:r>
            <a:endParaRPr lang="pl-PL" sz="1600" dirty="0" smtClean="0"/>
          </a:p>
          <a:p>
            <a:pPr lvl="1"/>
            <a:r>
              <a:rPr lang="pl-PL" sz="2400" dirty="0" smtClean="0">
                <a:sym typeface="Wingdings" panose="05000000000000000000" pitchFamily="2" charset="2"/>
              </a:rPr>
              <a:t>Wy nie</a:t>
            </a:r>
          </a:p>
          <a:p>
            <a:pPr lvl="1"/>
            <a:r>
              <a:rPr lang="pl-PL" sz="2400" dirty="0" smtClean="0">
                <a:sym typeface="Wingdings" panose="05000000000000000000" pitchFamily="2" charset="2"/>
              </a:rPr>
              <a:t>Ale ja tak  Niestety nie skupiamy się na </a:t>
            </a:r>
            <a:r>
              <a:rPr lang="pl-PL" sz="2400" dirty="0" err="1" smtClean="0">
                <a:sym typeface="Wingdings" panose="05000000000000000000" pitchFamily="2" charset="2"/>
              </a:rPr>
              <a:t>css-ie</a:t>
            </a:r>
            <a:r>
              <a:rPr lang="pl-PL" sz="2400" dirty="0" smtClean="0">
                <a:sym typeface="Wingdings" panose="05000000000000000000" pitchFamily="2" charset="2"/>
              </a:rPr>
              <a:t>, który w wersji 3 jest wypas. Weźcie wrzućcie po prostu skopiujcie:</a:t>
            </a:r>
          </a:p>
          <a:p>
            <a:pPr marL="457200" lvl="1" indent="0">
              <a:buNone/>
            </a:pPr>
            <a:endParaRPr lang="pl-PL" sz="2400" dirty="0" smtClean="0">
              <a:sym typeface="Wingdings" panose="05000000000000000000" pitchFamily="2" charset="2"/>
            </a:endParaRPr>
          </a:p>
          <a:p>
            <a:pPr marL="457200" lvl="1" indent="0">
              <a:buNone/>
            </a:pPr>
            <a:r>
              <a:rPr lang="pl-PL" sz="1300" dirty="0" smtClean="0">
                <a:sym typeface="Wingdings" panose="05000000000000000000" pitchFamily="2" charset="2"/>
              </a:rPr>
              <a:t>body </a:t>
            </a:r>
            <a:r>
              <a:rPr lang="pl-PL" sz="1300" dirty="0">
                <a:sym typeface="Wingdings" panose="05000000000000000000" pitchFamily="2" charset="2"/>
              </a:rPr>
              <a:t>{  height:100%;  </a:t>
            </a:r>
            <a:r>
              <a:rPr lang="pl-PL" sz="1300" dirty="0" err="1">
                <a:sym typeface="Wingdings" panose="05000000000000000000" pitchFamily="2" charset="2"/>
              </a:rPr>
              <a:t>width</a:t>
            </a:r>
            <a:r>
              <a:rPr lang="pl-PL" sz="1300" dirty="0">
                <a:sym typeface="Wingdings" panose="05000000000000000000" pitchFamily="2" charset="2"/>
              </a:rPr>
              <a:t>: 100%;  margin:0;  </a:t>
            </a:r>
            <a:r>
              <a:rPr lang="pl-PL" sz="1300" dirty="0" err="1">
                <a:sym typeface="Wingdings" panose="05000000000000000000" pitchFamily="2" charset="2"/>
              </a:rPr>
              <a:t>background-color</a:t>
            </a:r>
            <a:r>
              <a:rPr lang="pl-PL" sz="1300" dirty="0">
                <a:sym typeface="Wingdings" panose="05000000000000000000" pitchFamily="2" charset="2"/>
              </a:rPr>
              <a:t>: </a:t>
            </a:r>
            <a:r>
              <a:rPr lang="pl-PL" sz="1300" dirty="0" err="1">
                <a:sym typeface="Wingdings" panose="05000000000000000000" pitchFamily="2" charset="2"/>
              </a:rPr>
              <a:t>black</a:t>
            </a:r>
            <a:r>
              <a:rPr lang="pl-PL" sz="1300" dirty="0">
                <a:sym typeface="Wingdings" panose="05000000000000000000" pitchFamily="2" charset="2"/>
              </a:rPr>
              <a:t>;  </a:t>
            </a:r>
            <a:r>
              <a:rPr lang="pl-PL" sz="1300" dirty="0" err="1">
                <a:sym typeface="Wingdings" panose="05000000000000000000" pitchFamily="2" charset="2"/>
              </a:rPr>
              <a:t>position:absolute</a:t>
            </a:r>
            <a:r>
              <a:rPr lang="pl-PL" sz="1300" dirty="0">
                <a:sym typeface="Wingdings" panose="05000000000000000000" pitchFamily="2" charset="2"/>
              </a:rPr>
              <a:t>;  </a:t>
            </a:r>
            <a:r>
              <a:rPr lang="pl-PL" sz="1300" dirty="0" err="1">
                <a:sym typeface="Wingdings" panose="05000000000000000000" pitchFamily="2" charset="2"/>
              </a:rPr>
              <a:t>font</a:t>
            </a:r>
            <a:r>
              <a:rPr lang="pl-PL" sz="1300" dirty="0">
                <a:sym typeface="Wingdings" panose="05000000000000000000" pitchFamily="2" charset="2"/>
              </a:rPr>
              <a:t>-family: </a:t>
            </a:r>
            <a:r>
              <a:rPr lang="pl-PL" sz="1300" dirty="0" err="1">
                <a:sym typeface="Wingdings" panose="05000000000000000000" pitchFamily="2" charset="2"/>
              </a:rPr>
              <a:t>verdana</a:t>
            </a:r>
            <a:r>
              <a:rPr lang="pl-PL" sz="1300" dirty="0">
                <a:sym typeface="Wingdings" panose="05000000000000000000" pitchFamily="2" charset="2"/>
              </a:rPr>
              <a:t>;}* {  </a:t>
            </a:r>
            <a:r>
              <a:rPr lang="pl-PL" sz="1300" dirty="0" err="1">
                <a:sym typeface="Wingdings" panose="05000000000000000000" pitchFamily="2" charset="2"/>
              </a:rPr>
              <a:t>box-sizing:border-box</a:t>
            </a:r>
            <a:r>
              <a:rPr lang="pl-PL" sz="1300" dirty="0">
                <a:sym typeface="Wingdings" panose="05000000000000000000" pitchFamily="2" charset="2"/>
              </a:rPr>
              <a:t>;}h1 {  </a:t>
            </a:r>
            <a:r>
              <a:rPr lang="pl-PL" sz="1300" dirty="0" err="1">
                <a:sym typeface="Wingdings" panose="05000000000000000000" pitchFamily="2" charset="2"/>
              </a:rPr>
              <a:t>text-align</a:t>
            </a:r>
            <a:r>
              <a:rPr lang="pl-PL" sz="1300" dirty="0">
                <a:sym typeface="Wingdings" panose="05000000000000000000" pitchFamily="2" charset="2"/>
              </a:rPr>
              <a:t>: </a:t>
            </a:r>
            <a:r>
              <a:rPr lang="pl-PL" sz="1300" dirty="0" err="1">
                <a:sym typeface="Wingdings" panose="05000000000000000000" pitchFamily="2" charset="2"/>
              </a:rPr>
              <a:t>center</a:t>
            </a:r>
            <a:r>
              <a:rPr lang="pl-PL" sz="1300" dirty="0">
                <a:sym typeface="Wingdings" panose="05000000000000000000" pitchFamily="2" charset="2"/>
              </a:rPr>
              <a:t>;}.</a:t>
            </a:r>
            <a:r>
              <a:rPr lang="pl-PL" sz="1300" dirty="0" err="1">
                <a:sym typeface="Wingdings" panose="05000000000000000000" pitchFamily="2" charset="2"/>
              </a:rPr>
              <a:t>container</a:t>
            </a:r>
            <a:r>
              <a:rPr lang="pl-PL" sz="1300" dirty="0">
                <a:sym typeface="Wingdings" panose="05000000000000000000" pitchFamily="2" charset="2"/>
              </a:rPr>
              <a:t> {  </a:t>
            </a:r>
            <a:r>
              <a:rPr lang="pl-PL" sz="1300" dirty="0" err="1">
                <a:sym typeface="Wingdings" panose="05000000000000000000" pitchFamily="2" charset="2"/>
              </a:rPr>
              <a:t>border</a:t>
            </a:r>
            <a:r>
              <a:rPr lang="pl-PL" sz="1300" dirty="0">
                <a:sym typeface="Wingdings" panose="05000000000000000000" pitchFamily="2" charset="2"/>
              </a:rPr>
              <a:t>-radius: 10px;  </a:t>
            </a:r>
            <a:r>
              <a:rPr lang="pl-PL" sz="1300" dirty="0" err="1">
                <a:sym typeface="Wingdings" panose="05000000000000000000" pitchFamily="2" charset="2"/>
              </a:rPr>
              <a:t>background-color:white</a:t>
            </a:r>
            <a:r>
              <a:rPr lang="pl-PL" sz="1300" dirty="0">
                <a:sym typeface="Wingdings" panose="05000000000000000000" pitchFamily="2" charset="2"/>
              </a:rPr>
              <a:t>;  margin:10px 20px </a:t>
            </a:r>
            <a:r>
              <a:rPr lang="pl-PL" sz="1300" dirty="0" err="1">
                <a:sym typeface="Wingdings" panose="05000000000000000000" pitchFamily="2" charset="2"/>
              </a:rPr>
              <a:t>20px</a:t>
            </a:r>
            <a:r>
              <a:rPr lang="pl-PL" sz="1300" dirty="0">
                <a:sym typeface="Wingdings" panose="05000000000000000000" pitchFamily="2" charset="2"/>
              </a:rPr>
              <a:t> </a:t>
            </a:r>
            <a:r>
              <a:rPr lang="pl-PL" sz="1300" dirty="0" err="1">
                <a:sym typeface="Wingdings" panose="05000000000000000000" pitchFamily="2" charset="2"/>
              </a:rPr>
              <a:t>20px</a:t>
            </a:r>
            <a:r>
              <a:rPr lang="pl-PL" sz="1300" dirty="0">
                <a:sym typeface="Wingdings" panose="05000000000000000000" pitchFamily="2" charset="2"/>
              </a:rPr>
              <a:t>;  padding:10px;  </a:t>
            </a:r>
            <a:r>
              <a:rPr lang="pl-PL" sz="1300" dirty="0" err="1">
                <a:sym typeface="Wingdings" panose="05000000000000000000" pitchFamily="2" charset="2"/>
              </a:rPr>
              <a:t>box-shadow</a:t>
            </a:r>
            <a:r>
              <a:rPr lang="pl-PL" sz="1300" dirty="0">
                <a:sym typeface="Wingdings" panose="05000000000000000000" pitchFamily="2" charset="2"/>
              </a:rPr>
              <a:t>: 5px </a:t>
            </a:r>
            <a:r>
              <a:rPr lang="pl-PL" sz="1300" dirty="0" err="1">
                <a:sym typeface="Wingdings" panose="05000000000000000000" pitchFamily="2" charset="2"/>
              </a:rPr>
              <a:t>5px</a:t>
            </a:r>
            <a:r>
              <a:rPr lang="pl-PL" sz="1300" dirty="0">
                <a:sym typeface="Wingdings" panose="05000000000000000000" pitchFamily="2" charset="2"/>
              </a:rPr>
              <a:t> 10px </a:t>
            </a:r>
            <a:r>
              <a:rPr lang="pl-PL" sz="1300" dirty="0" err="1">
                <a:sym typeface="Wingdings" panose="05000000000000000000" pitchFamily="2" charset="2"/>
              </a:rPr>
              <a:t>black</a:t>
            </a:r>
            <a:r>
              <a:rPr lang="pl-PL" sz="1300" dirty="0">
                <a:sym typeface="Wingdings" panose="05000000000000000000" pitchFamily="2" charset="2"/>
              </a:rPr>
              <a:t>;}</a:t>
            </a:r>
            <a:r>
              <a:rPr lang="pl-PL" sz="1300" dirty="0" err="1">
                <a:sym typeface="Wingdings" panose="05000000000000000000" pitchFamily="2" charset="2"/>
              </a:rPr>
              <a:t>input</a:t>
            </a:r>
            <a:r>
              <a:rPr lang="pl-PL" sz="1300" dirty="0">
                <a:sym typeface="Wingdings" panose="05000000000000000000" pitchFamily="2" charset="2"/>
              </a:rPr>
              <a:t>[</a:t>
            </a:r>
            <a:r>
              <a:rPr lang="pl-PL" sz="1300" dirty="0" err="1">
                <a:sym typeface="Wingdings" panose="05000000000000000000" pitchFamily="2" charset="2"/>
              </a:rPr>
              <a:t>name</a:t>
            </a:r>
            <a:r>
              <a:rPr lang="pl-PL" sz="1300" dirty="0">
                <a:sym typeface="Wingdings" panose="05000000000000000000" pitchFamily="2" charset="2"/>
              </a:rPr>
              <a:t>="Message"] {  </a:t>
            </a:r>
            <a:r>
              <a:rPr lang="pl-PL" sz="1300" dirty="0" err="1">
                <a:sym typeface="Wingdings" panose="05000000000000000000" pitchFamily="2" charset="2"/>
              </a:rPr>
              <a:t>border-left:none</a:t>
            </a:r>
            <a:r>
              <a:rPr lang="pl-PL" sz="1300" dirty="0">
                <a:sym typeface="Wingdings" panose="05000000000000000000" pitchFamily="2" charset="2"/>
              </a:rPr>
              <a:t>;  </a:t>
            </a:r>
            <a:r>
              <a:rPr lang="pl-PL" sz="1300" dirty="0" err="1">
                <a:sym typeface="Wingdings" panose="05000000000000000000" pitchFamily="2" charset="2"/>
              </a:rPr>
              <a:t>border-right:none</a:t>
            </a:r>
            <a:r>
              <a:rPr lang="pl-PL" sz="1300" dirty="0">
                <a:sym typeface="Wingdings" panose="05000000000000000000" pitchFamily="2" charset="2"/>
              </a:rPr>
              <a:t>;  </a:t>
            </a:r>
            <a:r>
              <a:rPr lang="pl-PL" sz="1300" dirty="0" err="1">
                <a:sym typeface="Wingdings" panose="05000000000000000000" pitchFamily="2" charset="2"/>
              </a:rPr>
              <a:t>font-size</a:t>
            </a:r>
            <a:r>
              <a:rPr lang="pl-PL" sz="1300" dirty="0">
                <a:sym typeface="Wingdings" panose="05000000000000000000" pitchFamily="2" charset="2"/>
              </a:rPr>
              <a:t>: 15px;  </a:t>
            </a:r>
            <a:r>
              <a:rPr lang="pl-PL" sz="1300" dirty="0" err="1">
                <a:sym typeface="Wingdings" panose="05000000000000000000" pitchFamily="2" charset="2"/>
              </a:rPr>
              <a:t>padding</a:t>
            </a:r>
            <a:r>
              <a:rPr lang="pl-PL" sz="1300" dirty="0">
                <a:sym typeface="Wingdings" panose="05000000000000000000" pitchFamily="2" charset="2"/>
              </a:rPr>
              <a:t>: 5px;  </a:t>
            </a:r>
            <a:r>
              <a:rPr lang="pl-PL" sz="1300" dirty="0" err="1">
                <a:sym typeface="Wingdings" panose="05000000000000000000" pitchFamily="2" charset="2"/>
              </a:rPr>
              <a:t>width</a:t>
            </a:r>
            <a:r>
              <a:rPr lang="pl-PL" sz="1300" dirty="0">
                <a:sym typeface="Wingdings" panose="05000000000000000000" pitchFamily="2" charset="2"/>
              </a:rPr>
              <a:t>: 50vw;  min-</a:t>
            </a:r>
            <a:r>
              <a:rPr lang="pl-PL" sz="1300" dirty="0" err="1">
                <a:sym typeface="Wingdings" panose="05000000000000000000" pitchFamily="2" charset="2"/>
              </a:rPr>
              <a:t>width</a:t>
            </a:r>
            <a:r>
              <a:rPr lang="pl-PL" sz="1300" dirty="0">
                <a:sym typeface="Wingdings" panose="05000000000000000000" pitchFamily="2" charset="2"/>
              </a:rPr>
              <a:t>: 300px;  </a:t>
            </a:r>
            <a:r>
              <a:rPr lang="pl-PL" sz="1300" dirty="0" err="1">
                <a:sym typeface="Wingdings" panose="05000000000000000000" pitchFamily="2" charset="2"/>
              </a:rPr>
              <a:t>border</a:t>
            </a:r>
            <a:r>
              <a:rPr lang="pl-PL" sz="1300" dirty="0">
                <a:sym typeface="Wingdings" panose="05000000000000000000" pitchFamily="2" charset="2"/>
              </a:rPr>
              <a:t>: </a:t>
            </a:r>
            <a:r>
              <a:rPr lang="pl-PL" sz="1300" dirty="0" err="1">
                <a:sym typeface="Wingdings" panose="05000000000000000000" pitchFamily="2" charset="2"/>
              </a:rPr>
              <a:t>none</a:t>
            </a:r>
            <a:r>
              <a:rPr lang="pl-PL" sz="1300" dirty="0">
                <a:sym typeface="Wingdings" panose="05000000000000000000" pitchFamily="2" charset="2"/>
              </a:rPr>
              <a:t>;  </a:t>
            </a:r>
            <a:r>
              <a:rPr lang="pl-PL" sz="1300" dirty="0" err="1">
                <a:sym typeface="Wingdings" panose="05000000000000000000" pitchFamily="2" charset="2"/>
              </a:rPr>
              <a:t>outline-color</a:t>
            </a:r>
            <a:r>
              <a:rPr lang="pl-PL" sz="1300" dirty="0">
                <a:sym typeface="Wingdings" panose="05000000000000000000" pitchFamily="2" charset="2"/>
              </a:rPr>
              <a:t>: </a:t>
            </a:r>
            <a:r>
              <a:rPr lang="pl-PL" sz="1300" dirty="0" err="1">
                <a:sym typeface="Wingdings" panose="05000000000000000000" pitchFamily="2" charset="2"/>
              </a:rPr>
              <a:t>gray</a:t>
            </a:r>
            <a:r>
              <a:rPr lang="pl-PL" sz="1300" dirty="0">
                <a:sym typeface="Wingdings" panose="05000000000000000000" pitchFamily="2" charset="2"/>
              </a:rPr>
              <a:t>;  </a:t>
            </a:r>
            <a:r>
              <a:rPr lang="pl-PL" sz="1300" dirty="0" err="1">
                <a:sym typeface="Wingdings" panose="05000000000000000000" pitchFamily="2" charset="2"/>
              </a:rPr>
              <a:t>background-color</a:t>
            </a:r>
            <a:r>
              <a:rPr lang="pl-PL" sz="1300" dirty="0">
                <a:sym typeface="Wingdings" panose="05000000000000000000" pitchFamily="2" charset="2"/>
              </a:rPr>
              <a:t>: </a:t>
            </a:r>
            <a:r>
              <a:rPr lang="pl-PL" sz="1300" dirty="0" err="1">
                <a:sym typeface="Wingdings" panose="05000000000000000000" pitchFamily="2" charset="2"/>
              </a:rPr>
              <a:t>rgb</a:t>
            </a:r>
            <a:r>
              <a:rPr lang="pl-PL" sz="1300" dirty="0">
                <a:sym typeface="Wingdings" panose="05000000000000000000" pitchFamily="2" charset="2"/>
              </a:rPr>
              <a:t>(210, 200, 200);}</a:t>
            </a:r>
            <a:r>
              <a:rPr lang="pl-PL" sz="1300" dirty="0" err="1">
                <a:sym typeface="Wingdings" panose="05000000000000000000" pitchFamily="2" charset="2"/>
              </a:rPr>
              <a:t>input</a:t>
            </a:r>
            <a:r>
              <a:rPr lang="pl-PL" sz="1300" dirty="0">
                <a:sym typeface="Wingdings" panose="05000000000000000000" pitchFamily="2" charset="2"/>
              </a:rPr>
              <a:t>[</a:t>
            </a:r>
            <a:r>
              <a:rPr lang="pl-PL" sz="1300" dirty="0" err="1">
                <a:sym typeface="Wingdings" panose="05000000000000000000" pitchFamily="2" charset="2"/>
              </a:rPr>
              <a:t>type</a:t>
            </a:r>
            <a:r>
              <a:rPr lang="pl-PL" sz="1300" dirty="0">
                <a:sym typeface="Wingdings" panose="05000000000000000000" pitchFamily="2" charset="2"/>
              </a:rPr>
              <a:t>="</a:t>
            </a:r>
            <a:r>
              <a:rPr lang="pl-PL" sz="1300" dirty="0" err="1">
                <a:sym typeface="Wingdings" panose="05000000000000000000" pitchFamily="2" charset="2"/>
              </a:rPr>
              <a:t>submit</a:t>
            </a:r>
            <a:r>
              <a:rPr lang="pl-PL" sz="1300" dirty="0">
                <a:sym typeface="Wingdings" panose="05000000000000000000" pitchFamily="2" charset="2"/>
              </a:rPr>
              <a:t>"] {  </a:t>
            </a:r>
            <a:r>
              <a:rPr lang="pl-PL" sz="1300" dirty="0" err="1">
                <a:sym typeface="Wingdings" panose="05000000000000000000" pitchFamily="2" charset="2"/>
              </a:rPr>
              <a:t>height</a:t>
            </a:r>
            <a:r>
              <a:rPr lang="pl-PL" sz="1300" dirty="0">
                <a:sym typeface="Wingdings" panose="05000000000000000000" pitchFamily="2" charset="2"/>
              </a:rPr>
              <a:t>: 40px;  </a:t>
            </a:r>
            <a:r>
              <a:rPr lang="pl-PL" sz="1300" dirty="0" err="1">
                <a:sym typeface="Wingdings" panose="05000000000000000000" pitchFamily="2" charset="2"/>
              </a:rPr>
              <a:t>width</a:t>
            </a:r>
            <a:r>
              <a:rPr lang="pl-PL" sz="1300" dirty="0">
                <a:sym typeface="Wingdings" panose="05000000000000000000" pitchFamily="2" charset="2"/>
              </a:rPr>
              <a:t>: 50px;}.</a:t>
            </a:r>
            <a:r>
              <a:rPr lang="pl-PL" sz="1300" dirty="0" err="1">
                <a:sym typeface="Wingdings" panose="05000000000000000000" pitchFamily="2" charset="2"/>
              </a:rPr>
              <a:t>messages</a:t>
            </a:r>
            <a:r>
              <a:rPr lang="pl-PL" sz="1300" dirty="0">
                <a:sym typeface="Wingdings" panose="05000000000000000000" pitchFamily="2" charset="2"/>
              </a:rPr>
              <a:t>-list {  display: </a:t>
            </a:r>
            <a:r>
              <a:rPr lang="pl-PL" sz="1300" dirty="0" err="1">
                <a:sym typeface="Wingdings" panose="05000000000000000000" pitchFamily="2" charset="2"/>
              </a:rPr>
              <a:t>block</a:t>
            </a:r>
            <a:r>
              <a:rPr lang="pl-PL" sz="1300" dirty="0">
                <a:sym typeface="Wingdings" panose="05000000000000000000" pitchFamily="2" charset="2"/>
              </a:rPr>
              <a:t>;  list-style: </a:t>
            </a:r>
            <a:r>
              <a:rPr lang="pl-PL" sz="1300" dirty="0" err="1">
                <a:sym typeface="Wingdings" panose="05000000000000000000" pitchFamily="2" charset="2"/>
              </a:rPr>
              <a:t>none</a:t>
            </a:r>
            <a:r>
              <a:rPr lang="pl-PL" sz="1300" dirty="0">
                <a:sym typeface="Wingdings" panose="05000000000000000000" pitchFamily="2" charset="2"/>
              </a:rPr>
              <a:t>;  </a:t>
            </a:r>
            <a:r>
              <a:rPr lang="pl-PL" sz="1300" dirty="0" err="1">
                <a:sym typeface="Wingdings" panose="05000000000000000000" pitchFamily="2" charset="2"/>
              </a:rPr>
              <a:t>height</a:t>
            </a:r>
            <a:r>
              <a:rPr lang="pl-PL" sz="1300" dirty="0">
                <a:sym typeface="Wingdings" panose="05000000000000000000" pitchFamily="2" charset="2"/>
              </a:rPr>
              <a:t>: 50vh;  </a:t>
            </a:r>
            <a:r>
              <a:rPr lang="pl-PL" sz="1300" dirty="0" err="1">
                <a:sym typeface="Wingdings" panose="05000000000000000000" pitchFamily="2" charset="2"/>
              </a:rPr>
              <a:t>overflow</a:t>
            </a:r>
            <a:r>
              <a:rPr lang="pl-PL" sz="1300" dirty="0">
                <a:sym typeface="Wingdings" panose="05000000000000000000" pitchFamily="2" charset="2"/>
              </a:rPr>
              <a:t>: auto;  padding:0;  }.</a:t>
            </a:r>
            <a:r>
              <a:rPr lang="pl-PL" sz="1300" dirty="0" err="1">
                <a:sym typeface="Wingdings" panose="05000000000000000000" pitchFamily="2" charset="2"/>
              </a:rPr>
              <a:t>messages</a:t>
            </a:r>
            <a:r>
              <a:rPr lang="pl-PL" sz="1300" dirty="0">
                <a:sym typeface="Wingdings" panose="05000000000000000000" pitchFamily="2" charset="2"/>
              </a:rPr>
              <a:t>-list li {  border-radius:5px;  padding:2px;  </a:t>
            </a:r>
            <a:r>
              <a:rPr lang="pl-PL" sz="1300" dirty="0" err="1">
                <a:sym typeface="Wingdings" panose="05000000000000000000" pitchFamily="2" charset="2"/>
              </a:rPr>
              <a:t>animation:anim-MessageShow</a:t>
            </a:r>
            <a:r>
              <a:rPr lang="pl-PL" sz="1300" dirty="0">
                <a:sym typeface="Wingdings" panose="05000000000000000000" pitchFamily="2" charset="2"/>
              </a:rPr>
              <a:t>;  </a:t>
            </a:r>
            <a:r>
              <a:rPr lang="pl-PL" sz="1300" dirty="0" err="1">
                <a:sym typeface="Wingdings" panose="05000000000000000000" pitchFamily="2" charset="2"/>
              </a:rPr>
              <a:t>animation-duration</a:t>
            </a:r>
            <a:r>
              <a:rPr lang="pl-PL" sz="1300" dirty="0">
                <a:sym typeface="Wingdings" panose="05000000000000000000" pitchFamily="2" charset="2"/>
              </a:rPr>
              <a:t>: 1s;  </a:t>
            </a:r>
            <a:r>
              <a:rPr lang="pl-PL" sz="1300" dirty="0" err="1">
                <a:sym typeface="Wingdings" panose="05000000000000000000" pitchFamily="2" charset="2"/>
              </a:rPr>
              <a:t>animation-fill-mode</a:t>
            </a:r>
            <a:r>
              <a:rPr lang="pl-PL" sz="1300" dirty="0">
                <a:sym typeface="Wingdings" panose="05000000000000000000" pitchFamily="2" charset="2"/>
              </a:rPr>
              <a:t>: </a:t>
            </a:r>
            <a:r>
              <a:rPr lang="pl-PL" sz="1300" dirty="0" err="1">
                <a:sym typeface="Wingdings" panose="05000000000000000000" pitchFamily="2" charset="2"/>
              </a:rPr>
              <a:t>forwards</a:t>
            </a:r>
            <a:r>
              <a:rPr lang="pl-PL" sz="1300" dirty="0">
                <a:sym typeface="Wingdings" panose="05000000000000000000" pitchFamily="2" charset="2"/>
              </a:rPr>
              <a:t>;}.</a:t>
            </a:r>
            <a:r>
              <a:rPr lang="pl-PL" sz="1300" dirty="0" err="1">
                <a:sym typeface="Wingdings" panose="05000000000000000000" pitchFamily="2" charset="2"/>
              </a:rPr>
              <a:t>messages</a:t>
            </a:r>
            <a:r>
              <a:rPr lang="pl-PL" sz="1300" dirty="0">
                <a:sym typeface="Wingdings" panose="05000000000000000000" pitchFamily="2" charset="2"/>
              </a:rPr>
              <a:t>-list </a:t>
            </a:r>
            <a:r>
              <a:rPr lang="pl-PL" sz="1300" dirty="0" err="1">
                <a:sym typeface="Wingdings" panose="05000000000000000000" pitchFamily="2" charset="2"/>
              </a:rPr>
              <a:t>li:nth-child</a:t>
            </a:r>
            <a:r>
              <a:rPr lang="pl-PL" sz="1300" dirty="0">
                <a:sym typeface="Wingdings" panose="05000000000000000000" pitchFamily="2" charset="2"/>
              </a:rPr>
              <a:t>(</a:t>
            </a:r>
            <a:r>
              <a:rPr lang="pl-PL" sz="1300" dirty="0" err="1">
                <a:sym typeface="Wingdings" panose="05000000000000000000" pitchFamily="2" charset="2"/>
              </a:rPr>
              <a:t>even</a:t>
            </a:r>
            <a:r>
              <a:rPr lang="pl-PL" sz="1300" dirty="0">
                <a:sym typeface="Wingdings" panose="05000000000000000000" pitchFamily="2" charset="2"/>
              </a:rPr>
              <a:t>) {  </a:t>
            </a:r>
            <a:r>
              <a:rPr lang="pl-PL" sz="1300" dirty="0" err="1">
                <a:sym typeface="Wingdings" panose="05000000000000000000" pitchFamily="2" charset="2"/>
              </a:rPr>
              <a:t>background-color:rgb</a:t>
            </a:r>
            <a:r>
              <a:rPr lang="pl-PL" sz="1300" dirty="0">
                <a:sym typeface="Wingdings" panose="05000000000000000000" pitchFamily="2" charset="2"/>
              </a:rPr>
              <a:t>(210, 200, 200)!</a:t>
            </a:r>
            <a:r>
              <a:rPr lang="pl-PL" sz="1300" dirty="0" err="1">
                <a:sym typeface="Wingdings" panose="05000000000000000000" pitchFamily="2" charset="2"/>
              </a:rPr>
              <a:t>important</a:t>
            </a:r>
            <a:r>
              <a:rPr lang="pl-PL" sz="1300" dirty="0">
                <a:sym typeface="Wingdings" panose="05000000000000000000" pitchFamily="2" charset="2"/>
              </a:rPr>
              <a:t>;  </a:t>
            </a:r>
            <a:r>
              <a:rPr lang="pl-PL" sz="1300" dirty="0" err="1">
                <a:sym typeface="Wingdings" panose="05000000000000000000" pitchFamily="2" charset="2"/>
              </a:rPr>
              <a:t>color:black</a:t>
            </a:r>
            <a:r>
              <a:rPr lang="pl-PL" sz="1300" dirty="0">
                <a:sym typeface="Wingdings" panose="05000000000000000000" pitchFamily="2" charset="2"/>
              </a:rPr>
              <a:t>;}.</a:t>
            </a:r>
            <a:r>
              <a:rPr lang="pl-PL" sz="1300" dirty="0" err="1">
                <a:sym typeface="Wingdings" panose="05000000000000000000" pitchFamily="2" charset="2"/>
              </a:rPr>
              <a:t>messages</a:t>
            </a:r>
            <a:r>
              <a:rPr lang="pl-PL" sz="1300" dirty="0">
                <a:sym typeface="Wingdings" panose="05000000000000000000" pitchFamily="2" charset="2"/>
              </a:rPr>
              <a:t>-list </a:t>
            </a:r>
            <a:r>
              <a:rPr lang="pl-PL" sz="1300" dirty="0" err="1">
                <a:sym typeface="Wingdings" panose="05000000000000000000" pitchFamily="2" charset="2"/>
              </a:rPr>
              <a:t>caption</a:t>
            </a:r>
            <a:r>
              <a:rPr lang="pl-PL" sz="1300" dirty="0">
                <a:sym typeface="Wingdings" panose="05000000000000000000" pitchFamily="2" charset="2"/>
              </a:rPr>
              <a:t>{  </a:t>
            </a:r>
            <a:r>
              <a:rPr lang="pl-PL" sz="1300" dirty="0" err="1">
                <a:sym typeface="Wingdings" panose="05000000000000000000" pitchFamily="2" charset="2"/>
              </a:rPr>
              <a:t>font-weight</a:t>
            </a:r>
            <a:r>
              <a:rPr lang="pl-PL" sz="1300" dirty="0">
                <a:sym typeface="Wingdings" panose="05000000000000000000" pitchFamily="2" charset="2"/>
              </a:rPr>
              <a:t>: </a:t>
            </a:r>
            <a:r>
              <a:rPr lang="pl-PL" sz="1300" dirty="0" err="1">
                <a:sym typeface="Wingdings" panose="05000000000000000000" pitchFamily="2" charset="2"/>
              </a:rPr>
              <a:t>bold</a:t>
            </a:r>
            <a:r>
              <a:rPr lang="pl-PL" sz="1300" dirty="0">
                <a:sym typeface="Wingdings" panose="05000000000000000000" pitchFamily="2" charset="2"/>
              </a:rPr>
              <a:t>;}@</a:t>
            </a:r>
            <a:r>
              <a:rPr lang="pl-PL" sz="1300" dirty="0" err="1">
                <a:sym typeface="Wingdings" panose="05000000000000000000" pitchFamily="2" charset="2"/>
              </a:rPr>
              <a:t>keyframes</a:t>
            </a:r>
            <a:r>
              <a:rPr lang="pl-PL" sz="1300" dirty="0">
                <a:sym typeface="Wingdings" panose="05000000000000000000" pitchFamily="2" charset="2"/>
              </a:rPr>
              <a:t> anim-</a:t>
            </a:r>
            <a:r>
              <a:rPr lang="pl-PL" sz="1300" dirty="0" err="1">
                <a:sym typeface="Wingdings" panose="05000000000000000000" pitchFamily="2" charset="2"/>
              </a:rPr>
              <a:t>MessageShow</a:t>
            </a:r>
            <a:r>
              <a:rPr lang="pl-PL" sz="1300" dirty="0">
                <a:sym typeface="Wingdings" panose="05000000000000000000" pitchFamily="2" charset="2"/>
              </a:rPr>
              <a:t> {  0%{    </a:t>
            </a:r>
            <a:r>
              <a:rPr lang="pl-PL" sz="1300" dirty="0" err="1">
                <a:sym typeface="Wingdings" panose="05000000000000000000" pitchFamily="2" charset="2"/>
              </a:rPr>
              <a:t>transform</a:t>
            </a:r>
            <a:r>
              <a:rPr lang="pl-PL" sz="1300" dirty="0">
                <a:sym typeface="Wingdings" panose="05000000000000000000" pitchFamily="2" charset="2"/>
              </a:rPr>
              <a:t>: scale3d(0.5,0.5,1);  }  100% {    </a:t>
            </a:r>
            <a:r>
              <a:rPr lang="pl-PL" sz="1300" dirty="0" err="1">
                <a:sym typeface="Wingdings" panose="05000000000000000000" pitchFamily="2" charset="2"/>
              </a:rPr>
              <a:t>transform</a:t>
            </a:r>
            <a:r>
              <a:rPr lang="pl-PL" sz="1300" dirty="0">
                <a:sym typeface="Wingdings" panose="05000000000000000000" pitchFamily="2" charset="2"/>
              </a:rPr>
              <a:t>: scale3d(1,1,1);  </a:t>
            </a:r>
            <a:r>
              <a:rPr lang="pl-PL" sz="1300" dirty="0" smtClean="0">
                <a:sym typeface="Wingdings" panose="05000000000000000000" pitchFamily="2" charset="2"/>
              </a:rPr>
              <a:t>}}</a:t>
            </a:r>
          </a:p>
          <a:p>
            <a:pPr marL="457200" lvl="1" indent="0">
              <a:buNone/>
            </a:pPr>
            <a:endParaRPr lang="pl-PL" sz="1300" dirty="0" smtClean="0">
              <a:sym typeface="Wingdings" panose="05000000000000000000" pitchFamily="2" charset="2"/>
            </a:endParaRPr>
          </a:p>
          <a:p>
            <a:pPr marL="457200" lvl="1" indent="0">
              <a:buNone/>
            </a:pPr>
            <a:r>
              <a:rPr lang="pl-PL" sz="2400" dirty="0" smtClean="0">
                <a:sym typeface="Wingdings" panose="05000000000000000000" pitchFamily="2" charset="2"/>
              </a:rPr>
              <a:t>Do waszego pliku *.</a:t>
            </a:r>
            <a:r>
              <a:rPr lang="pl-PL" sz="2400" dirty="0" err="1" smtClean="0">
                <a:sym typeface="Wingdings" panose="05000000000000000000" pitchFamily="2" charset="2"/>
              </a:rPr>
              <a:t>css</a:t>
            </a:r>
            <a:r>
              <a:rPr lang="pl-PL" sz="2400" dirty="0" smtClean="0">
                <a:sym typeface="Wingdings" panose="05000000000000000000" pitchFamily="2" charset="2"/>
              </a:rPr>
              <a:t>. Jeśli macie </a:t>
            </a:r>
            <a:r>
              <a:rPr lang="pl-PL" sz="2400" dirty="0" err="1" smtClean="0">
                <a:sym typeface="Wingdings" panose="05000000000000000000" pitchFamily="2" charset="2"/>
              </a:rPr>
              <a:t>plugin</a:t>
            </a:r>
            <a:r>
              <a:rPr lang="pl-PL" sz="2400" dirty="0" smtClean="0">
                <a:sym typeface="Wingdings" panose="05000000000000000000" pitchFamily="2" charset="2"/>
              </a:rPr>
              <a:t> do </a:t>
            </a:r>
            <a:r>
              <a:rPr lang="pl-PL" sz="2400" dirty="0" err="1" smtClean="0">
                <a:sym typeface="Wingdings" panose="05000000000000000000" pitchFamily="2" charset="2"/>
              </a:rPr>
              <a:t>Atoma</a:t>
            </a:r>
            <a:r>
              <a:rPr lang="pl-PL" sz="2400" dirty="0" smtClean="0">
                <a:sym typeface="Wingdings" panose="05000000000000000000" pitchFamily="2" charset="2"/>
              </a:rPr>
              <a:t> „Atom </a:t>
            </a:r>
            <a:r>
              <a:rPr lang="pl-PL" sz="2400" dirty="0" err="1" smtClean="0">
                <a:sym typeface="Wingdings" panose="05000000000000000000" pitchFamily="2" charset="2"/>
              </a:rPr>
              <a:t>Beautify</a:t>
            </a:r>
            <a:r>
              <a:rPr lang="pl-PL" sz="2400" dirty="0" smtClean="0">
                <a:sym typeface="Wingdings" panose="05000000000000000000" pitchFamily="2" charset="2"/>
              </a:rPr>
              <a:t>” </a:t>
            </a:r>
            <a:r>
              <a:rPr lang="pl-PL" sz="2400" dirty="0" err="1" smtClean="0">
                <a:sym typeface="Wingdings" panose="05000000000000000000" pitchFamily="2" charset="2"/>
              </a:rPr>
              <a:t>ctr</a:t>
            </a:r>
            <a:r>
              <a:rPr lang="pl-PL" sz="2400" dirty="0" smtClean="0">
                <a:sym typeface="Wingdings" panose="05000000000000000000" pitchFamily="2" charset="2"/>
              </a:rPr>
              <a:t> + alt + b i gotowe. Zapisać, popatrzeć, że ładniejsze, pouczyć się w domu </a:t>
            </a:r>
            <a:r>
              <a:rPr lang="pl-PL" sz="2400" dirty="0" err="1" smtClean="0">
                <a:sym typeface="Wingdings" panose="05000000000000000000" pitchFamily="2" charset="2"/>
              </a:rPr>
              <a:t>css</a:t>
            </a:r>
            <a:r>
              <a:rPr lang="pl-PL" sz="2400" dirty="0" smtClean="0">
                <a:sym typeface="Wingdings" panose="05000000000000000000" pitchFamily="2" charset="2"/>
              </a:rPr>
              <a:t>-a. 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B10B1-CFAE-4B3D-B1DA-4BA7CB88E0D3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00553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l-PL" dirty="0" smtClean="0"/>
              <a:t>Prosta aplikacja chat Część </a:t>
            </a:r>
            <a:r>
              <a:rPr lang="pl-PL" dirty="0" smtClean="0"/>
              <a:t>3 – Przystanek końcowy</a:t>
            </a:r>
            <a:endParaRPr lang="pl-PL" dirty="0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152400" y="914399"/>
            <a:ext cx="8839200" cy="5851525"/>
          </a:xfrm>
        </p:spPr>
        <p:txBody>
          <a:bodyPr>
            <a:normAutofit/>
          </a:bodyPr>
          <a:lstStyle/>
          <a:p>
            <a:r>
              <a:rPr lang="pl-PL" sz="2400" dirty="0" smtClean="0">
                <a:sym typeface="Wingdings" panose="05000000000000000000" pitchFamily="2" charset="2"/>
              </a:rPr>
              <a:t>Czego się nauczyliśmy?</a:t>
            </a:r>
          </a:p>
          <a:p>
            <a:pPr lvl="1"/>
            <a:r>
              <a:rPr lang="pl-PL" sz="2000" dirty="0" smtClean="0">
                <a:sym typeface="Wingdings" panose="05000000000000000000" pitchFamily="2" charset="2"/>
              </a:rPr>
              <a:t>Dodawania paczek do naszego projektu, których jest mnóstwo – wszystkie są open-</a:t>
            </a:r>
            <a:r>
              <a:rPr lang="pl-PL" sz="2000" dirty="0" err="1" smtClean="0">
                <a:sym typeface="Wingdings" panose="05000000000000000000" pitchFamily="2" charset="2"/>
              </a:rPr>
              <a:t>source</a:t>
            </a:r>
            <a:r>
              <a:rPr lang="pl-PL" sz="2000" dirty="0">
                <a:sym typeface="Wingdings" panose="05000000000000000000" pitchFamily="2" charset="2"/>
              </a:rPr>
              <a:t> </a:t>
            </a:r>
            <a:r>
              <a:rPr lang="pl-PL" sz="2000" dirty="0" smtClean="0">
                <a:sym typeface="Wingdings" panose="05000000000000000000" pitchFamily="2" charset="2"/>
              </a:rPr>
              <a:t>dostępne wraz z dokumentacją na </a:t>
            </a:r>
            <a:r>
              <a:rPr lang="pl-PL" sz="2000" dirty="0" err="1" smtClean="0">
                <a:sym typeface="Wingdings" panose="05000000000000000000" pitchFamily="2" charset="2"/>
              </a:rPr>
              <a:t>GitHubie</a:t>
            </a:r>
            <a:r>
              <a:rPr lang="pl-PL" sz="2000" dirty="0" smtClean="0">
                <a:sym typeface="Wingdings" panose="05000000000000000000" pitchFamily="2" charset="2"/>
              </a:rPr>
              <a:t>. Między innymi; logowanie przez </a:t>
            </a:r>
            <a:r>
              <a:rPr lang="pl-PL" sz="2000" dirty="0" err="1" smtClean="0">
                <a:sym typeface="Wingdings" panose="05000000000000000000" pitchFamily="2" charset="2"/>
              </a:rPr>
              <a:t>facebooka</a:t>
            </a:r>
            <a:r>
              <a:rPr lang="pl-PL" sz="2000" dirty="0" smtClean="0">
                <a:sym typeface="Wingdings" panose="05000000000000000000" pitchFamily="2" charset="2"/>
              </a:rPr>
              <a:t>, </a:t>
            </a:r>
            <a:r>
              <a:rPr lang="pl-PL" sz="2000" dirty="0" err="1" smtClean="0">
                <a:sym typeface="Wingdings" panose="05000000000000000000" pitchFamily="2" charset="2"/>
              </a:rPr>
              <a:t>twittera</a:t>
            </a:r>
            <a:r>
              <a:rPr lang="pl-PL" sz="2000" dirty="0" smtClean="0">
                <a:sym typeface="Wingdings" panose="05000000000000000000" pitchFamily="2" charset="2"/>
              </a:rPr>
              <a:t>, </a:t>
            </a:r>
            <a:r>
              <a:rPr lang="pl-PL" sz="2000" dirty="0" err="1" smtClean="0">
                <a:sym typeface="Wingdings" panose="05000000000000000000" pitchFamily="2" charset="2"/>
              </a:rPr>
              <a:t>githuba</a:t>
            </a:r>
            <a:r>
              <a:rPr lang="pl-PL" sz="2000" dirty="0" smtClean="0">
                <a:sym typeface="Wingdings" panose="05000000000000000000" pitchFamily="2" charset="2"/>
              </a:rPr>
              <a:t>, Iron router (buduj </a:t>
            </a:r>
            <a:r>
              <a:rPr lang="pl-PL" sz="2000" dirty="0" err="1" smtClean="0">
                <a:sym typeface="Wingdings" panose="05000000000000000000" pitchFamily="2" charset="2"/>
              </a:rPr>
              <a:t>multipage</a:t>
            </a:r>
            <a:r>
              <a:rPr lang="pl-PL" sz="2000" dirty="0" smtClean="0">
                <a:sym typeface="Wingdings" panose="05000000000000000000" pitchFamily="2" charset="2"/>
              </a:rPr>
              <a:t> z meteorem!), moment do formatowania dat itd. </a:t>
            </a:r>
            <a:r>
              <a:rPr lang="pl-PL" sz="2000" dirty="0" err="1" smtClean="0">
                <a:sym typeface="Wingdings" panose="05000000000000000000" pitchFamily="2" charset="2"/>
              </a:rPr>
              <a:t>Itd</a:t>
            </a:r>
            <a:r>
              <a:rPr lang="pl-PL" sz="2000" dirty="0" smtClean="0">
                <a:sym typeface="Wingdings" panose="05000000000000000000" pitchFamily="2" charset="2"/>
              </a:rPr>
              <a:t>….</a:t>
            </a:r>
          </a:p>
          <a:p>
            <a:pPr lvl="1"/>
            <a:r>
              <a:rPr lang="pl-PL" sz="2000" dirty="0" smtClean="0">
                <a:sym typeface="Wingdings" panose="05000000000000000000" pitchFamily="2" charset="2"/>
              </a:rPr>
              <a:t>Jak użyć paczki </a:t>
            </a:r>
            <a:r>
              <a:rPr lang="pl-PL" sz="2000" dirty="0" err="1" smtClean="0">
                <a:sym typeface="Wingdings" panose="05000000000000000000" pitchFamily="2" charset="2"/>
              </a:rPr>
              <a:t>accounts</a:t>
            </a:r>
            <a:r>
              <a:rPr lang="pl-PL" sz="2000" dirty="0" smtClean="0">
                <a:sym typeface="Wingdings" panose="05000000000000000000" pitchFamily="2" charset="2"/>
              </a:rPr>
              <a:t> aby uzyskać system logowania w prosty sposób.</a:t>
            </a:r>
          </a:p>
          <a:p>
            <a:pPr lvl="1"/>
            <a:r>
              <a:rPr lang="pl-PL" sz="2000" dirty="0" smtClean="0">
                <a:sym typeface="Wingdings" panose="05000000000000000000" pitchFamily="2" charset="2"/>
              </a:rPr>
              <a:t>Jak stworzyć metodę po stronie serwera, jak wywołać ją po stronie klienta. </a:t>
            </a:r>
          </a:p>
          <a:p>
            <a:pPr lvl="1"/>
            <a:r>
              <a:rPr lang="pl-PL" sz="2000" dirty="0" smtClean="0">
                <a:sym typeface="Wingdings" panose="05000000000000000000" pitchFamily="2" charset="2"/>
              </a:rPr>
              <a:t>Jak sortować w </a:t>
            </a:r>
            <a:r>
              <a:rPr lang="pl-PL" sz="2000" dirty="0" err="1" smtClean="0">
                <a:sym typeface="Wingdings" panose="05000000000000000000" pitchFamily="2" charset="2"/>
              </a:rPr>
              <a:t>mongoDB</a:t>
            </a:r>
            <a:endParaRPr lang="pl-PL" sz="2000" dirty="0" smtClean="0">
              <a:sym typeface="Wingdings" panose="05000000000000000000" pitchFamily="2" charset="2"/>
            </a:endParaRPr>
          </a:p>
          <a:p>
            <a:pPr lvl="1"/>
            <a:r>
              <a:rPr lang="pl-PL" sz="2000" dirty="0" smtClean="0">
                <a:sym typeface="Wingdings" panose="05000000000000000000" pitchFamily="2" charset="2"/>
              </a:rPr>
              <a:t>Jak stosować </a:t>
            </a:r>
            <a:r>
              <a:rPr lang="pl-PL" sz="2000" dirty="0" err="1" smtClean="0">
                <a:sym typeface="Wingdings" panose="05000000000000000000" pitchFamily="2" charset="2"/>
              </a:rPr>
              <a:t>if-bindingi</a:t>
            </a:r>
            <a:r>
              <a:rPr lang="pl-PL" sz="2000" dirty="0" smtClean="0">
                <a:sym typeface="Wingdings" panose="05000000000000000000" pitchFamily="2" charset="2"/>
              </a:rPr>
              <a:t> w języku szablonowym </a:t>
            </a:r>
            <a:r>
              <a:rPr lang="pl-PL" sz="2000" dirty="0" err="1" smtClean="0">
                <a:sym typeface="Wingdings" panose="05000000000000000000" pitchFamily="2" charset="2"/>
              </a:rPr>
              <a:t>mustache</a:t>
            </a:r>
            <a:r>
              <a:rPr lang="pl-PL" sz="2000" dirty="0" smtClean="0">
                <a:sym typeface="Wingdings" panose="05000000000000000000" pitchFamily="2" charset="2"/>
              </a:rPr>
              <a:t>.</a:t>
            </a:r>
            <a:endParaRPr lang="pl-PL" sz="2000" dirty="0" smtClean="0">
              <a:sym typeface="Wingdings" panose="05000000000000000000" pitchFamily="2" charset="2"/>
            </a:endParaRPr>
          </a:p>
          <a:p>
            <a:r>
              <a:rPr lang="pl-PL" sz="2400" dirty="0" smtClean="0">
                <a:sym typeface="Wingdings" panose="05000000000000000000" pitchFamily="2" charset="2"/>
              </a:rPr>
              <a:t>Czego możesz się jeszcze nauczyć po wykładzie?</a:t>
            </a:r>
          </a:p>
          <a:p>
            <a:pPr lvl="1"/>
            <a:r>
              <a:rPr lang="pl-PL" sz="2000" dirty="0" smtClean="0">
                <a:sym typeface="Wingdings" panose="05000000000000000000" pitchFamily="2" charset="2"/>
              </a:rPr>
              <a:t>CSS-a! Spójrz na moje style. Może masz pomysł, aby czat wyglądał jeszcze lepiej?</a:t>
            </a:r>
          </a:p>
          <a:p>
            <a:pPr lvl="1"/>
            <a:r>
              <a:rPr lang="pl-PL" sz="2000" dirty="0" smtClean="0">
                <a:sym typeface="Wingdings" panose="05000000000000000000" pitchFamily="2" charset="2"/>
              </a:rPr>
              <a:t>Masy różnych rzeczy, zapraszam do rozszerzenia aplikacji chat 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B10B1-CFAE-4B3D-B1DA-4BA7CB88E0D3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04331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Custom 2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7F7F7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A3C2D560936F14DB3C747B451C321F8" ma:contentTypeVersion="0" ma:contentTypeDescription="Create a new document." ma:contentTypeScope="" ma:versionID="7139346c0c6d006d365cb807690fd52d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1b05d82d297216baf5b26c55225140df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D2159C8-258C-4E6A-B889-C4C886CDDC4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F6AE455-0B25-403B-96F4-036DAFC47585}">
  <ds:schemaRefs>
    <ds:schemaRef ds:uri="http://purl.org/dc/terms/"/>
    <ds:schemaRef ds:uri="http://schemas.openxmlformats.org/package/2006/metadata/core-properties"/>
    <ds:schemaRef ds:uri="http://purl.org/dc/dcmitype/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EE0F461D-A522-4A9C-B9F1-5A6DFD6C7F6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14760</TotalTime>
  <Words>1754</Words>
  <Application>Microsoft Office PowerPoint</Application>
  <PresentationFormat>On-screen Show (4:3)</PresentationFormat>
  <Paragraphs>259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3" baseType="lpstr">
      <vt:lpstr>Wingdings</vt:lpstr>
      <vt:lpstr>Arial</vt:lpstr>
      <vt:lpstr>Gill Sans MT Condensed</vt:lpstr>
      <vt:lpstr>Trebuchet MS</vt:lpstr>
      <vt:lpstr>Calibri</vt:lpstr>
      <vt:lpstr>Consolas</vt:lpstr>
      <vt:lpstr>Office Theme</vt:lpstr>
      <vt:lpstr> Real-time web applications</vt:lpstr>
      <vt:lpstr>Co tam jest po stronie Serwera?</vt:lpstr>
      <vt:lpstr>Co tam jest po stronie klienta?</vt:lpstr>
      <vt:lpstr>Integracja klient-serwer</vt:lpstr>
      <vt:lpstr>Zaczynajmy</vt:lpstr>
      <vt:lpstr>Szybka konfiguracja Atoma</vt:lpstr>
      <vt:lpstr>Pierwszy krok – tworzymy projekt</vt:lpstr>
      <vt:lpstr>Pierwszy krok – tworzymy projekt</vt:lpstr>
      <vt:lpstr>Javascript w meteor – krótki wstęp.</vt:lpstr>
      <vt:lpstr>HTML w meteor – krótki wstęp</vt:lpstr>
      <vt:lpstr>Prosta aplikacja chat Część 1</vt:lpstr>
      <vt:lpstr>Prosta aplikacja chat Część 1</vt:lpstr>
      <vt:lpstr>Prosta aplikacja chat Część 1 - Przystanek</vt:lpstr>
      <vt:lpstr>Prosta aplikacja chat Część 2</vt:lpstr>
      <vt:lpstr>Prosta aplikacja chat Część 2</vt:lpstr>
      <vt:lpstr>Prosta aplikacja chat Część 2</vt:lpstr>
      <vt:lpstr>Prosta aplikacja chat Część 2</vt:lpstr>
      <vt:lpstr>Prosta aplikacja chat Część 2 - Przystanek</vt:lpstr>
      <vt:lpstr>Prosta aplikacja chat Część 3</vt:lpstr>
      <vt:lpstr>Prosta aplikacja chat Część 3</vt:lpstr>
      <vt:lpstr>Prosta aplikacja chat Część 3</vt:lpstr>
      <vt:lpstr>Prosta aplikacja chat Część 3</vt:lpstr>
      <vt:lpstr>Prosta aplikacja chat Część 3</vt:lpstr>
      <vt:lpstr>Prosta aplikacja chat Część 3</vt:lpstr>
      <vt:lpstr>Prosta aplikacja chat Część 3</vt:lpstr>
      <vt:lpstr>Prosta aplikacja chat Część 3 – Przystanek końcowy</vt:lpstr>
    </vt:vector>
  </TitlesOfParts>
  <Company>LGBS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Szablon prezentacji PowerPoint</dc:title>
  <dc:creator>Wojciech Kosiński</dc:creator>
  <cp:lastModifiedBy>Marcin Golenia</cp:lastModifiedBy>
  <cp:revision>253</cp:revision>
  <dcterms:created xsi:type="dcterms:W3CDTF">2008-07-31T22:22:11Z</dcterms:created>
  <dcterms:modified xsi:type="dcterms:W3CDTF">2015-07-08T07:19:50Z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0x0101000A3C2D560936F14DB3C747B451C321F8</vt:lpwstr>
  </property>
</Properties>
</file>